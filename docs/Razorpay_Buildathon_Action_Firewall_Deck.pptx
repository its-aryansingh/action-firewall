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6a0eddb224ef490f" Type="http://schemas.openxmlformats.org/officeDocument/2006/relationships/officeDocument" Target="ppt/presentation.xml"/><Relationship Id="Rae907449de2b4801" Type="http://schemas.openxmlformats.org/package/2006/relationships/metadata/core-properties" Target="docProps/core.xml"/><Relationship Id="Rfd72ff524ce44645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281bf32c6324fc0"/>
  </p:sldMasterIdLst>
  <p:notesMasterIdLst>
    <p:notesMasterId xmlns:r="http://schemas.openxmlformats.org/officeDocument/2006/relationships" r:id="R31c57f5599d14519"/>
  </p:notesMasterIdLst>
  <p:sldIdLst>
    <p:sldId xmlns:r="http://schemas.openxmlformats.org/officeDocument/2006/relationships" id="256" r:id="Rf0c1a5c990894818"/>
    <p:sldId xmlns:r="http://schemas.openxmlformats.org/officeDocument/2006/relationships" id="257" r:id="Rae99784463de46d7"/>
    <p:sldId xmlns:r="http://schemas.openxmlformats.org/officeDocument/2006/relationships" id="258" r:id="Re10c3ceb076346ca"/>
    <p:sldId xmlns:r="http://schemas.openxmlformats.org/officeDocument/2006/relationships" id="259" r:id="R3f92257eb7374158"/>
    <p:sldId xmlns:r="http://schemas.openxmlformats.org/officeDocument/2006/relationships" id="260" r:id="R0156c7f4ca3e4ed9"/>
    <p:sldId xmlns:r="http://schemas.openxmlformats.org/officeDocument/2006/relationships" id="261" r:id="R7d3d9aadb9e8423e"/>
    <p:sldId xmlns:r="http://schemas.openxmlformats.org/officeDocument/2006/relationships" id="262" r:id="Rcb5b17b2d75145d1"/>
    <p:sldId xmlns:r="http://schemas.openxmlformats.org/officeDocument/2006/relationships" id="263" r:id="R812d549a44df45ad"/>
    <p:sldId xmlns:r="http://schemas.openxmlformats.org/officeDocument/2006/relationships" id="264" r:id="Rbfa5684fe09d4cb3"/>
    <p:sldId xmlns:r="http://schemas.openxmlformats.org/officeDocument/2006/relationships" id="265" r:id="Rb81bde2584864c6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156c7f4ca3e4ed9" Type="http://schemas.openxmlformats.org/officeDocument/2006/relationships/slide" Target="slides/slide5.xml"/><Relationship Id="R2281bf32c6324fc0" Type="http://schemas.openxmlformats.org/officeDocument/2006/relationships/slideMaster" Target="slideMasters/slideMaster1.xml"/><Relationship Id="R31c57f5599d14519" Type="http://schemas.openxmlformats.org/officeDocument/2006/relationships/notesMaster" Target="notesMasters/notesMaster1.xml"/><Relationship Id="R37b9972db26a4b83" Type="http://schemas.openxmlformats.org/officeDocument/2006/relationships/tableStyles" Target="tableStyles.xml"/><Relationship Id="R3f92257eb7374158" Type="http://schemas.openxmlformats.org/officeDocument/2006/relationships/slide" Target="slides/slide4.xml"/><Relationship Id="R714a06e964ca4c51" Type="http://schemas.openxmlformats.org/officeDocument/2006/relationships/viewProps" Target="viewProps.xml"/><Relationship Id="R7d3d9aadb9e8423e" Type="http://schemas.openxmlformats.org/officeDocument/2006/relationships/slide" Target="slides/slide6.xml"/><Relationship Id="R812d549a44df45ad" Type="http://schemas.openxmlformats.org/officeDocument/2006/relationships/slide" Target="slides/slide8.xml"/><Relationship Id="R8134b08423284853" Type="http://schemas.openxmlformats.org/officeDocument/2006/relationships/theme" Target="theme/theme1.xml"/><Relationship Id="Rae99784463de46d7" Type="http://schemas.openxmlformats.org/officeDocument/2006/relationships/slide" Target="slides/slide2.xml"/><Relationship Id="Rb81bde2584864c6b" Type="http://schemas.openxmlformats.org/officeDocument/2006/relationships/slide" Target="slides/slide10.xml"/><Relationship Id="Rbfa5684fe09d4cb3" Type="http://schemas.openxmlformats.org/officeDocument/2006/relationships/slide" Target="slides/slide9.xml"/><Relationship Id="Rcb5b17b2d75145d1" Type="http://schemas.openxmlformats.org/officeDocument/2006/relationships/slide" Target="slides/slide7.xml"/><Relationship Id="Re10c3ceb076346ca" Type="http://schemas.openxmlformats.org/officeDocument/2006/relationships/slide" Target="slides/slide3.xml"/><Relationship Id="Re3b6b86155e24914" Type="http://schemas.openxmlformats.org/officeDocument/2006/relationships/presProps" Target="presProps.xml"/><Relationship Id="Rf0c1a5c990894818" Type="http://schemas.openxmlformats.org/officeDocument/2006/relationships/slide" Target="slides/slide1.xml"/></Relationships>
</file>

<file path=ppt/notesMasters/_rels/notesMaster1.xml.rels><?xml version='1.0' encoding='UTF-8' standalone='yes'?>
<Relationships xmlns="http://schemas.openxmlformats.org/package/2006/relationships"><Relationship Id="R84d76348170a4af7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b06f72a26ee74c0b" Type="http://schemas.openxmlformats.org/officeDocument/2006/relationships/notesMaster" Target="../notesMasters/notesMaster1.xml"/><Relationship Id="Rfac88e24a0904d30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116a1894a6c944d8" Type="http://schemas.openxmlformats.org/officeDocument/2006/relationships/notesMaster" Target="../notesMasters/notesMaster1.xml"/><Relationship Id="Rce7a05f9b2064488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9daacbd7c5dd43a2" Type="http://schemas.openxmlformats.org/officeDocument/2006/relationships/notesMaster" Target="../notesMasters/notesMaster1.xml"/><Relationship Id="Rfabea190578a45d1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8e9b399e23ae4d78" Type="http://schemas.openxmlformats.org/officeDocument/2006/relationships/notesMaster" Target="../notesMasters/notesMaster1.xml"/><Relationship Id="Rc27f81d8c5e74d7a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15ed4ecdc0f144c9" Type="http://schemas.openxmlformats.org/officeDocument/2006/relationships/notesMaster" Target="../notesMasters/notesMaster1.xml"/><Relationship Id="R96256f58957642ad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a837e9ee1f4f468f" Type="http://schemas.openxmlformats.org/officeDocument/2006/relationships/slide" Target="../slides/slide6.xml"/><Relationship Id="Rb6990afd2e904975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7af118deb6e84457" Type="http://schemas.openxmlformats.org/officeDocument/2006/relationships/notesMaster" Target="../notesMasters/notesMaster1.xml"/><Relationship Id="Raa66709eb62f48a1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2e6da24803c244f4" Type="http://schemas.openxmlformats.org/officeDocument/2006/relationships/notesMaster" Target="../notesMasters/notesMaster1.xml"/><Relationship Id="R578caa9310074307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26b1ed5f046f419b" Type="http://schemas.openxmlformats.org/officeDocument/2006/relationships/notesMaster" Target="../notesMasters/notesMaster1.xml"/><Relationship Id="R2a674302947a499f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6e268076d7d24cfe" Type="http://schemas.openxmlformats.org/officeDocument/2006/relationships/notesMaster" Target="../notesMasters/notesMaster1.xml"/><Relationship Id="R75a65216eb754ca8" Type="http://schemas.openxmlformats.org/officeDocument/2006/relationships/slide" Target="../slides/slide10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boundary, not the chatbot: chat proposes; policy authorizes; one exact grant permits one action.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https://razorpay.com/buildathon/ (Track 01 framing and evaluation bar)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Land the reframe in one sentence: the model's proposal is useful input, never payment authority. The concrete risks are stale state, substituted arguments, duplicate dispatch, and ambiguous provider outcomes.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https://razorpay.com/buildathon/ (Track 01 bar)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Pause at explicit confirmation: this is a separate endpoint, not an LLM intent. Then point out that authorization and dispatch ownership are separate atomic transitions.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build evidence: backend/app/agent.py, backend/app/actions.py, backend/app/store.py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core engineering proof. Explain that the earlier reservation-only implementation still permitted duplicate external calls; the current grant adds exact request binding and one dispatch owner.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build evidence: backend/app/authorization.py, backend/app/store.py, backend/tests/test_action_firewall.py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imply private Vulcan access or a generic MCP security wrapper. This build uses one locally registered action and can run the same boundary against the simulated adapter or Remote MCP transport.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https://razorpay.com/docs/mcp-server/tools-reference/</a:t>
            </a:r>
            <a:endParaRPr/>
          </a:p>
          <a:p xmlns:a="http://schemas.openxmlformats.org/drawingml/2006/main">
            <a:r>
              <a:t>- https://razorpay.com/docs/mcp-server/remote/</a:t>
            </a:r>
            <a:endParaRPr/>
          </a:p>
          <a:p xmlns:a="http://schemas.openxmlformats.org/drawingml/2006/main">
            <a:r>
              <a:t>- https://razorpay.com/docs/payments/payment-links/create/</a:t>
            </a:r>
            <a:endParaRPr/>
          </a:p>
          <a:p xmlns:a="http://schemas.openxmlformats.org/drawingml/2006/main">
            <a:r>
              <a:t>- https://razorpay.com/blog/?p=27542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audit screen or the event rows. SQLite triggers reject audit-row updates and deletes; this is still application append-only evidence, not a signed or externally anchored ledger. If a provider call times out after send, the state is UNKNOWN and no retry control is offered. Crash-stranded dispatch claims recover to the same conservative state.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build evidence: backend/app/store.py, backend/app/mcp_client.py, backend/tests/test_action_firewall.py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the UI: discovery, oversized proposal, separate authorization denial, remove the two premium lines, authorize the ₹486 cart, revoke, and attempt the ₹549 coffee cart. If the UI or network misbehaves, switch immediately to the offline rehearsal.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build evidence: backend/scripts/demo.py, backend/tests/test_demo_smoke.py</a:t>
            </a:r>
            <a:endParaRPr/>
          </a:p>
          <a:p xmlns:a="http://schemas.openxmlformats.org/drawingml/2006/main">
            <a:r>
              <a:t>- https://razorpay.com/buildathon/ (failure-handling requirement)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reproducible engineering metrics, not claims of production uplift. Run pytest, npm audit, and the offline rehearsal if challenged.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verification on 2026-09-02: 51 backend tests; Next.js production build passed; npm audit reported 0 vulnerabilities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explicit about the two production gaps: identity is not authenticated, and provider reconciliation/webhook confirmation is not wired. Honesty strengthens the proof boundary. Retry Budget remains a challenger, not the build.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https://razorpay.com/blog/?p=27542 (public Vulcan positioning)</a:t>
            </a:r>
            <a:endParaRPr/>
          </a:p>
          <a:p xmlns:a="http://schemas.openxmlformats.org/drawingml/2006/main">
            <a:r>
              <a:t>- https://razorpay.com/buildathon/ (Track 03 bar and examples)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invariant, then invite the panel to try to race, tamper with, revoke, or replay the exact action.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https://razorpay.com/buildathon/</a:t>
            </a:r>
            <a:endParaRPr/>
          </a:p>
          <a:p xmlns:a="http://schemas.openxmlformats.org/drawingml/2006/main">
            <a:r>
              <a:t>- Internal build evidence: current repository and verification commands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eeec250230714d6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6aa3fd850543446f" Type="http://schemas.openxmlformats.org/officeDocument/2006/relationships/theme" Target="theme/theme2.xml"/><Relationship Id="Rf8b65f5b0b584668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8b65f5b0b584668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23af95a17bfb4f58" Type="http://schemas.openxmlformats.org/officeDocument/2006/relationships/slideLayout" Target="../slideLayouts/slideLayout1.xml"/><Relationship Id="R9819b365c2114b11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2c2140569160405c" Type="http://schemas.openxmlformats.org/officeDocument/2006/relationships/slideLayout" Target="../slideLayouts/slideLayout1.xml"/><Relationship Id="R2cb9e6d55f2d460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87f6b30e26974ff2" Type="http://schemas.openxmlformats.org/officeDocument/2006/relationships/notesSlide" Target="../notesSlides/notesSlide3.xml"/><Relationship Id="Re12fecedbc184697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58a307b285ee4d63" Type="http://schemas.openxmlformats.org/officeDocument/2006/relationships/notesSlide" Target="../notesSlides/notesSlide4.xml"/><Relationship Id="Rc4f1ede239e549ac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23d69d444a0f4db5" Type="http://schemas.openxmlformats.org/officeDocument/2006/relationships/slideLayout" Target="../slideLayouts/slideLayout1.xml"/><Relationship Id="R4dab7e9146044e4b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0df03e98ed8142da" Type="http://schemas.openxmlformats.org/officeDocument/2006/relationships/notesSlide" Target="../notesSlides/notesSlide6.xml"/><Relationship Id="R774f289e1c61471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3f40774cd69144d6" Type="http://schemas.openxmlformats.org/officeDocument/2006/relationships/slideLayout" Target="../slideLayouts/slideLayout1.xml"/><Relationship Id="Rac163ee6b31642ae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151e8e05cd0f458a" Type="http://schemas.openxmlformats.org/officeDocument/2006/relationships/notesSlide" Target="../notesSlides/notesSlide8.xml"/><Relationship Id="R6e20776c00664eb9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5d5f0f3faeff48a2" Type="http://schemas.openxmlformats.org/officeDocument/2006/relationships/slideLayout" Target="../slideLayouts/slideLayout1.xml"/><Relationship Id="Rb68fcca7cfc4436f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1e6c49d9d1b046a9" Type="http://schemas.openxmlformats.org/officeDocument/2006/relationships/notesSlide" Target="../notesSlides/notesSlide10.xml"/><Relationship Id="R8a03b913d2004fae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0A8BB95-CF72-475F-9D7F-8FE8C0074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-1737360"/>
            <a:ext cx="5669280" cy="5669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95FF">
              <a:alpha val="12000"/>
            </a:srgbClr>
          </a:solidFill>
          <a:ln xmlns:a="http://schemas.openxmlformats.org/drawingml/2006/main" w="12700">
            <a:solidFill>
              <a:srgbClr val="0B102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B115294-CC7F-48A2-B2E3-E75284D79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3840480"/>
            <a:ext cx="4023360" cy="4023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>
              <a:alpha val="8000"/>
            </a:srgbClr>
          </a:solidFill>
          <a:ln xmlns:a="http://schemas.openxmlformats.org/drawingml/2006/main" w="12700">
            <a:solidFill>
              <a:srgbClr val="0B102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AC9CD1A-899D-4C32-9D98-664819357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7160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50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RAZORPAY AI BUILDATHON 2026   ·   TRACK 01</a:t>
            </a:r>
            <a:endParaRPr sz="1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761EA6A-CC42-45FD-8BFA-816BAC366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95097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6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Action Firewall</a:t>
            </a:r>
            <a:endParaRPr sz="46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E61A0AB-CC14-43E6-A0CF-59509EAF6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87168"/>
            <a:ext cx="95097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600" b="1">
                <a:solidFill>
                  <a:srgbClr val="3395FF"/>
                </a:solidFill>
                <a:latin typeface="Cambria"/>
                <a:ea typeface="Cambria"/>
                <a:cs typeface="Cambria"/>
              </a:rPr>
              <a:t>Agentic Checkout Authorization</a:t>
            </a:r>
            <a:endParaRPr sz="46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697A3E0-45E5-4C08-9BDC-7E45BB18B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429000"/>
            <a:ext cx="87782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i="1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Agentic commerce is an authorization problem — not a checkout problem.</a:t>
            </a:r>
            <a:endParaRPr sz="17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13A7E16-1540-48F8-A36F-9DDA1A3D4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60520"/>
            <a:ext cx="3840480" cy="384048"/>
          </a:xfrm>
          <a:prstGeom xmlns:a="http://schemas.openxmlformats.org/drawingml/2006/main" prst="roundRect">
            <a:avLst>
              <a:gd name="adj" fmla="val 4761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20BD5FB-00E7-4D3C-B6E0-F9914ED37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4302252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9294D858-ABDD-41B5-8E14-549760B98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4160520"/>
            <a:ext cx="343814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22C55E"/>
                </a:solidFill>
                <a:latin typeface="Courier New"/>
                <a:ea typeface="Courier New"/>
                <a:cs typeface="Courier New"/>
              </a:rPr>
              <a:t>CHAT → PROPOSE ONLY   zero action calls</a:t>
            </a:r>
            <a:endParaRPr sz="105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7CA8E1FB-7D93-4EDB-AF03-9BE8C8C1A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4160520"/>
            <a:ext cx="4023360" cy="384048"/>
          </a:xfrm>
          <a:prstGeom xmlns:a="http://schemas.openxmlformats.org/drawingml/2006/main" prst="roundRect">
            <a:avLst>
              <a:gd name="adj" fmla="val 4761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F43F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6DE48DAD-AC33-4BB6-8FD8-ADB552D54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1184" y="4302252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3F5E"/>
          </a:solidFill>
          <a:ln xmlns:a="http://schemas.openxmlformats.org/drawingml/2006/main" w="12700">
            <a:solidFill>
              <a:srgbClr val="F43F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8003353-5B07-4345-AB39-211AFBDD4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5776" y="4160520"/>
            <a:ext cx="362102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F43F5E"/>
                </a:solidFill>
                <a:latin typeface="Courier New"/>
                <a:ea typeface="Courier New"/>
                <a:cs typeface="Courier New"/>
              </a:rPr>
              <a:t>EXACT GRANT → ONE CALL   ₹486 / ₹1,000</a:t>
            </a:r>
            <a:endParaRPr sz="10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5A3C91F0-6F94-4073-AFD8-FE426905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0"/>
            <a:ext cx="7863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An AI can assemble the cart. Only a customer-defined policy may authorize the exact Razorpay action.</a:t>
            </a:r>
            <a:endParaRPr sz="12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52EEC29-0883-4413-A889-BA174AB08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80644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8FA0C4"/>
                </a:solidFill>
                <a:latin typeface="Courier New"/>
                <a:ea typeface="Courier New"/>
                <a:cs typeface="Courier New"/>
              </a:rPr>
              <a:t>Razorpay MCP-compatible actuator  ·  deterministic policy  ·  61 tests  ·  offline demo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54207238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B4DB002-7A4B-4931-BD64-82B751445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1091153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200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THE CONTROL GAP</a:t>
            </a:r>
            <a:endParaRPr sz="11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45EE299-E99E-4D90-8007-046AB6A61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4980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 model is not a payment principal.</a:t>
            </a:r>
            <a:endParaRPr sz="34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47F2775-2010-419C-BEBB-D5216188B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26464"/>
            <a:ext cx="981425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Natural language can express intent. It cannot carry durable authority across cart edits, policy changes, retries, and provider timeouts.</a:t>
            </a:r>
            <a:endParaRPr sz="14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FD62354-B6F9-4ED0-9837-1D6F1784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48840"/>
            <a:ext cx="3429000" cy="2148840"/>
          </a:xfrm>
          <a:prstGeom xmlns:a="http://schemas.openxmlformats.org/drawingml/2006/main" prst="roundRect">
            <a:avLst>
              <a:gd name="adj" fmla="val 5106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00B9BA7-4BE0-415C-8D0E-BE4A1D6C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3957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3F5E">
              <a:alpha val="20000"/>
            </a:srgbClr>
          </a:solidFill>
          <a:ln xmlns:a="http://schemas.openxmlformats.org/drawingml/2006/main" w="12700">
            <a:solidFill>
              <a:srgbClr val="F43F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0C2D248-14D5-4D21-9741-1FE787374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395728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43F5E"/>
                </a:solidFill>
                <a:latin typeface="Calibri"/>
                <a:ea typeface="Calibri"/>
                <a:cs typeface="Calibri"/>
              </a:rPr>
              <a:t>1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0612303-3168-414A-8F1F-A3CB61B8D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37744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Agent</a:t>
            </a:r>
            <a:endParaRPr sz="17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6E15257-E76F-4D5B-81AD-F267F7D2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971800"/>
            <a:ext cx="29260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Prompt injection, hallucinated quantities, or ambiguous checkout language can alter a proposal.</a:t>
            </a:r>
            <a:endParaRPr sz="12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040DB80-38C2-404A-A2F5-E9E17F834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48840"/>
            <a:ext cx="3429000" cy="2148840"/>
          </a:xfrm>
          <a:prstGeom xmlns:a="http://schemas.openxmlformats.org/drawingml/2006/main" prst="roundRect">
            <a:avLst>
              <a:gd name="adj" fmla="val 5106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95404B76-EC39-44D4-9D97-45CFAF2AF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3957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>
              <a:alpha val="20000"/>
            </a:srgbClr>
          </a:solidFill>
          <a:ln xmlns:a="http://schemas.openxmlformats.org/drawingml/2006/main" w="12700">
            <a:solidFill>
              <a:srgbClr val="FBBF2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55C5D0D-63AC-4CF3-AC17-8D0352C27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395728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BBF24"/>
                </a:solidFill>
                <a:latin typeface="Calibri"/>
                <a:ea typeface="Calibri"/>
                <a:cs typeface="Calibri"/>
              </a:rPr>
              <a:t>2</a:t>
            </a:r>
            <a:endParaRPr sz="13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2F493DF-1592-4780-822E-FA327662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237744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State</a:t>
            </a:r>
            <a:endParaRPr sz="17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FE579064-9D21-498A-A3A1-1EB8CB3E3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971800"/>
            <a:ext cx="29260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The cart and policy can change between preview and dispatch. A stale yes is unsafe.</a:t>
            </a:r>
            <a:endParaRPr sz="12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CCCA4C59-DE62-47A8-81D8-8EE501AF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148840"/>
            <a:ext cx="3429000" cy="2148840"/>
          </a:xfrm>
          <a:prstGeom xmlns:a="http://schemas.openxmlformats.org/drawingml/2006/main" prst="roundRect">
            <a:avLst>
              <a:gd name="adj" fmla="val 5106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7331AA29-0C39-4A57-9FFD-5235A8CA7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23957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95FF">
              <a:alpha val="20000"/>
            </a:srgbClr>
          </a:solidFill>
          <a:ln xmlns:a="http://schemas.openxmlformats.org/drawingml/2006/main" w="12700">
            <a:solidFill>
              <a:srgbClr val="3395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09E0019-1042-44BE-84F3-856897C2F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2395728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3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E068327-E23A-4BFC-9FCE-A23C90F7C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37744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Effect</a:t>
            </a:r>
            <a:endParaRPr sz="17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9D14D11-A19A-47D6-BAED-940249980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2971800"/>
            <a:ext cx="29260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Retries and timeouts can duplicate an external action even when the database reserved once.</a:t>
            </a:r>
            <a:endParaRPr sz="12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B0899A79-700C-4512-971A-3CDEA5288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617720"/>
            <a:ext cx="10911535" cy="123444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A2547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FD07607B-1F49-477B-A894-95AE99695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800600"/>
            <a:ext cx="10088575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The missing primitive is exact, one-use authorization at the action boundary.</a:t>
            </a:r>
            <a:endParaRPr sz="19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9F5D9E1-64FA-409E-9876-468D929F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285232"/>
            <a:ext cx="1008857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Track 01 asks for explainable, bounded and gated money actions—with an audit trail and graceful failure.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7976869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66E4637-DF7C-4472-9DDA-1A075F4D0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1091153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200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ARCHITECTURE</a:t>
            </a:r>
            <a:endParaRPr sz="11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36CEB9B-CFC8-435F-8644-E63067409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4980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Chat proposes. A separate boundary authorizes.</a:t>
            </a:r>
            <a:endParaRPr sz="34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C23B6C1-BFA6-4A32-B8BC-258DD05AF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26464"/>
            <a:ext cx="981425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One agent assembles a cart; explicit confirmation creates an exact action request; deterministic code owns every transition after that.</a:t>
            </a:r>
            <a:endParaRPr sz="14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CA96433-59C1-48E3-BE23-2D34FC40C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94560"/>
            <a:ext cx="2606040" cy="18288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E0A5E98-4401-4F5C-9ADE-2E5258E7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31720"/>
            <a:ext cx="457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3395FF"/>
                </a:solidFill>
                <a:latin typeface="Courier New"/>
                <a:ea typeface="Courier New"/>
                <a:cs typeface="Courier New"/>
              </a:rPr>
              <a:t>1</a:t>
            </a:r>
            <a:endParaRPr sz="12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B0B2F60-214B-454C-A939-C22FAE20D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697480"/>
            <a:ext cx="2194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retrieve + plan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B490EE1-BD4E-4FCD-BA0A-CBEFEAA20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108960"/>
            <a:ext cx="21945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RAG returns trusted SKUs;</a:t>
            </a:r>
            <a:endParaRPr sz="1150"/>
          </a:p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the model proposes quantity.</a:t>
            </a:r>
            <a:endParaRPr sz="11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0E85924-3DF2-4B6B-99EF-DFBD33F10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2880360"/>
            <a:ext cx="274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>
                <a:solidFill>
                  <a:srgbClr val="26325A"/>
                </a:solidFill>
                <a:latin typeface="Calibri"/>
                <a:ea typeface="Calibri"/>
                <a:cs typeface="Calibri"/>
              </a:rPr>
              <a:t>→</a:t>
            </a:r>
            <a:endParaRPr sz="18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6931ACA2-B5EF-4DC5-8257-617EF59F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3008" y="2194560"/>
            <a:ext cx="2606040" cy="18288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6F865C0-940D-4EC1-8E07-D888BEBE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608" y="2331720"/>
            <a:ext cx="457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3395FF"/>
                </a:solidFill>
                <a:latin typeface="Courier New"/>
                <a:ea typeface="Courier New"/>
                <a:cs typeface="Courier New"/>
              </a:rPr>
              <a:t>2</a:t>
            </a:r>
            <a:endParaRPr sz="12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3FC461F-5000-491E-9500-34EBE7233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608" y="2697480"/>
            <a:ext cx="2194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explicit confirm</a:t>
            </a:r>
            <a:endParaRPr sz="13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AA46A46-F657-4279-BBD1-15B852FE2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608" y="3108960"/>
            <a:ext cx="21945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Human approves cart hash</a:t>
            </a:r>
            <a:endParaRPr sz="1150"/>
          </a:p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+ exact Razorpay action.</a:t>
            </a:r>
            <a:endParaRPr sz="11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C441801-3BDE-40E4-9866-0F71D3D07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9048" y="2880360"/>
            <a:ext cx="274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>
                <a:solidFill>
                  <a:srgbClr val="26325A"/>
                </a:solidFill>
                <a:latin typeface="Calibri"/>
                <a:ea typeface="Calibri"/>
                <a:cs typeface="Calibri"/>
              </a:rPr>
              <a:t>→</a:t>
            </a:r>
            <a:endParaRPr sz="18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1CD3DDFC-5250-4BBE-81A7-30A4E862F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194560"/>
            <a:ext cx="2606040" cy="18288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7293F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A97B4309-B9A2-4A47-AC37-A312F0EE4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194560"/>
            <a:ext cx="2606040" cy="18288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22C55E">
              <a:alpha val="7000"/>
            </a:srgbClr>
          </a:solidFill>
          <a:ln xmlns:a="http://schemas.openxmlformats.org/drawingml/2006/main" w="19050">
            <a:solidFill>
              <a:srgbClr val="22C5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876474D-F2BC-4729-8187-44D0E2F65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4536" y="2331720"/>
            <a:ext cx="457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22C55E"/>
                </a:solidFill>
                <a:latin typeface="Courier New"/>
                <a:ea typeface="Courier New"/>
                <a:cs typeface="Courier New"/>
              </a:rPr>
              <a:t>3</a:t>
            </a:r>
            <a:endParaRPr sz="12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7E6169BE-AFF1-4F54-AA64-E615C510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4536" y="2697480"/>
            <a:ext cx="2194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22C55E"/>
                </a:solidFill>
                <a:latin typeface="Courier New"/>
                <a:ea typeface="Courier New"/>
                <a:cs typeface="Courier New"/>
              </a:rPr>
              <a:t>authorize + reserve</a:t>
            </a:r>
            <a:endParaRPr sz="13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F7B5A16D-A13C-4328-BC24-6A9CAB3F1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4536" y="3108960"/>
            <a:ext cx="21945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Re-read full policy;</a:t>
            </a:r>
            <a:endParaRPr sz="1150"/>
          </a:p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reserve headroom atomically.</a:t>
            </a:r>
            <a:endParaRPr sz="11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CCFD4C1E-DCFB-4FB1-B221-77717C990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976" y="2880360"/>
            <a:ext cx="274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>
                <a:solidFill>
                  <a:srgbClr val="26325A"/>
                </a:solidFill>
                <a:latin typeface="Calibri"/>
                <a:ea typeface="Calibri"/>
                <a:cs typeface="Calibri"/>
              </a:rPr>
              <a:t>→</a:t>
            </a:r>
            <a:endParaRPr sz="18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C3CB2A73-BA9D-4011-B293-1D71DA26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2194560"/>
            <a:ext cx="2606040" cy="18288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BF5F75E-B7DA-4F02-860E-F5DBA055C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7464" y="2331720"/>
            <a:ext cx="457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8FA0C4"/>
                </a:solidFill>
                <a:latin typeface="Courier New"/>
                <a:ea typeface="Courier New"/>
                <a:cs typeface="Courier New"/>
              </a:rPr>
              <a:t>4</a:t>
            </a:r>
            <a:endParaRPr sz="12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0473701B-5938-4A60-9E61-D55031E6F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7464" y="2697480"/>
            <a:ext cx="2194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claim + dispatch</a:t>
            </a:r>
            <a:endParaRPr sz="13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2CAC54CA-7547-43F6-8B91-CDEDD508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7464" y="3108960"/>
            <a:ext cx="21945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One owner calls the</a:t>
            </a:r>
            <a:endParaRPr sz="1150"/>
          </a:p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registered actuator once.</a:t>
            </a:r>
            <a:endParaRPr sz="11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7E006C23-478B-4442-ACFA-23D0E7807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5486400" cy="155448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8A03C83-5EB7-470A-B76E-E97792D74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26280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LLM never holds authority.</a:t>
            </a:r>
            <a:endParaRPr sz="15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7F1742C-D7A7-4FFB-89AE-2CF9B2567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92040"/>
            <a:ext cx="484632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It interprets open-ended shopping intent and proposes catalog operations. Server-owned SKUs and integer-paise prices determine the canonical cart; ordinary chat cannot call a state-changing tool.</a:t>
            </a:r>
            <a:endParaRPr sz="115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6900D829-DD55-4460-9FDA-FDC037FA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343400"/>
            <a:ext cx="5105095" cy="155448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735E78A0-3A77-495C-96A8-9BD46EADA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4526280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actuator trusts only database state.</a:t>
            </a:r>
            <a:endParaRPr sz="15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5DEA6D2B-705A-4322-8039-012D7AA5D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4892040"/>
            <a:ext cx="45262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 closed action registry, current policy version and hash, exact arguments, cart hash, actor context, and a one-owner compare-and-set all have to match before the network call.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97950628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29BDF34-DDB0-4741-8C27-BF8259E29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1091153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200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THE DIFFERENTIATOR</a:t>
            </a:r>
            <a:endParaRPr sz="11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176685D-CE15-413E-8D5B-D80835289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4980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An exact grant, not a Boolean decision</a:t>
            </a:r>
            <a:endParaRPr sz="34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CD034F0-9D6A-4728-9BB2-2DBE8AD99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26464"/>
            <a:ext cx="981425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Each authorization binds who, what, how much, which policy revision, and one purchase attempt. Any mismatch fails closed.</a:t>
            </a:r>
            <a:endParaRPr sz="14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78F2724-5FDC-4197-8213-94383B8A6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03120"/>
            <a:ext cx="6492240" cy="329184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BC818CA-33D5-469C-945E-7460EA937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86000"/>
            <a:ext cx="58521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Bindings enforced at dispatch</a:t>
            </a:r>
            <a:endParaRPr sz="14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2FF7753-1FC6-4E5C-9CCE-7FA51EF82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843784"/>
            <a:ext cx="118872" cy="1188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370DE5B-90C8-477F-B17F-66D1D588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743200"/>
            <a:ext cx="2286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Identity + session</a:t>
            </a:r>
            <a:endParaRPr sz="12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5944FFF-3058-4FD8-ACEB-7AB012D3F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2743200"/>
            <a:ext cx="2103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3395FF"/>
                </a:solidFill>
                <a:latin typeface="Courier New"/>
                <a:ea typeface="Courier New"/>
                <a:cs typeface="Courier New"/>
              </a:rPr>
              <a:t>user · agent · session</a:t>
            </a:r>
            <a:endParaRPr sz="10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7B31E12-0ADE-432A-813B-F9C9B1FA3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2743200"/>
            <a:ext cx="1463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session-bound MVP</a:t>
            </a:r>
            <a:endParaRPr sz="11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C3F2B2A-5A58-4A32-9C7D-44D8BEAA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364992"/>
            <a:ext cx="118872" cy="1188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D8AF4D7-DB52-4C48-B075-EEFF72B93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264408"/>
            <a:ext cx="2286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Cart + amount</a:t>
            </a:r>
            <a:endParaRPr sz="12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FC45C53-97D2-438F-A35F-E491584A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3264408"/>
            <a:ext cx="2103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3395FF"/>
                </a:solidFill>
                <a:latin typeface="Courier New"/>
                <a:ea typeface="Courier New"/>
                <a:cs typeface="Courier New"/>
              </a:rPr>
              <a:t>cart_hash · args_hash</a:t>
            </a:r>
            <a:endParaRPr sz="10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06E1078-84C1-4D17-9C4E-B4669E4CB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3264408"/>
            <a:ext cx="1463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integer paise</a:t>
            </a:r>
            <a:endParaRPr sz="11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D384743E-E2C9-4927-90D6-8340438B1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886200"/>
            <a:ext cx="118872" cy="1188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CF1A66E-23F5-4D9B-8521-C01D78BEA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785616"/>
            <a:ext cx="2286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Policy snapshot</a:t>
            </a:r>
            <a:endParaRPr sz="1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BA03075-8F3F-4F42-B69A-1F5074E8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3785616"/>
            <a:ext cx="2103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3395FF"/>
                </a:solidFill>
                <a:latin typeface="Courier New"/>
                <a:ea typeface="Courier New"/>
                <a:cs typeface="Courier New"/>
              </a:rPr>
              <a:t>version · policy_hash</a:t>
            </a:r>
            <a:endParaRPr sz="10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8A4D2AA8-8838-44D2-9FB6-514C5FD7B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3785616"/>
            <a:ext cx="1463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re-read at claim</a:t>
            </a:r>
            <a:endParaRPr sz="11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B5D5BC2F-AB6A-4CD1-9BA4-D422CB4F2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407408"/>
            <a:ext cx="118872" cy="1188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2FA323F-45F1-405E-9820-0AA7A824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306824"/>
            <a:ext cx="2286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Single dispatch</a:t>
            </a:r>
            <a:endParaRPr sz="12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5A72DD1-565A-4DF4-84E1-0C8FE9F63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4306824"/>
            <a:ext cx="2103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3395FF"/>
                </a:solidFill>
                <a:latin typeface="Courier New"/>
                <a:ea typeface="Courier New"/>
                <a:cs typeface="Courier New"/>
              </a:rPr>
              <a:t>purchase_attempt_id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58CBC743-7805-4CDB-8221-DB9AD9534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4306824"/>
            <a:ext cx="1463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CAS owner token</a:t>
            </a:r>
            <a:endParaRPr sz="11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86AE4525-D092-4C93-B1C8-61350899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928616"/>
            <a:ext cx="118872" cy="1188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43FCF6FA-EE11-44EC-9C1B-1175F94B4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828032"/>
            <a:ext cx="2286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Ambiguity-safe</a:t>
            </a:r>
            <a:endParaRPr sz="12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88C1A228-8F92-4D8F-8F57-442602091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4828032"/>
            <a:ext cx="2103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3395FF"/>
                </a:solidFill>
                <a:latin typeface="Courier New"/>
                <a:ea typeface="Courier New"/>
                <a:cs typeface="Courier New"/>
              </a:rPr>
              <a:t>UNKNOWN</a:t>
            </a:r>
            <a:endParaRPr sz="105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BCAF1B09-9391-417A-9D1F-2CD9CC4A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4828032"/>
            <a:ext cx="1463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no auto-retry</a:t>
            </a:r>
            <a:endParaRPr sz="11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817A1F84-72A7-4F5A-A7D5-A9C00A39A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103120"/>
            <a:ext cx="4099255" cy="329184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F1830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C8EB31E-10D0-4497-8AF3-449775141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28600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8FA0C4"/>
                </a:solidFill>
                <a:latin typeface="Courier New"/>
                <a:ea typeface="Courier New"/>
                <a:cs typeface="Courier New"/>
              </a:rPr>
              <a:t>claim(grant)</a:t>
            </a:r>
            <a:endParaRPr sz="11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79CB237D-CB54-4F02-86BF-D173537AD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51760"/>
            <a:ext cx="393192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600"/>
              </a:lnSpc>
              <a:buNone/>
            </a:pPr>
            <a:r>
              <a:rPr sz="10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require exact bindings</a:t>
            </a:r>
            <a:endParaRPr sz="1050"/>
          </a:p>
          <a:p xmlns:a="http://schemas.openxmlformats.org/drawingml/2006/main">
            <a:pPr marL="0" indent="0">
              <a:lnSpc>
                <a:spcPts val="1600"/>
              </a:lnSpc>
              <a:buNone/>
            </a:pPr>
            <a:r>
              <a:rPr sz="10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require current policy hash</a:t>
            </a:r>
            <a:endParaRPr sz="1050"/>
          </a:p>
          <a:p xmlns:a="http://schemas.openxmlformats.org/drawingml/2006/main">
            <a:pPr marL="0" indent="0">
              <a:lnSpc>
                <a:spcPts val="1600"/>
              </a:lnSpc>
              <a:buNone/>
            </a:pPr>
            <a:r>
              <a:rPr sz="10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CAS AUTHORIZED → DISPATCHING</a:t>
            </a:r>
            <a:endParaRPr sz="1050"/>
          </a:p>
          <a:p xmlns:a="http://schemas.openxmlformats.org/drawingml/2006/main">
            <a:pPr marL="0" indent="0">
              <a:lnSpc>
                <a:spcPts val="1600"/>
              </a:lnSpc>
              <a:buNone/>
            </a:pPr>
            <a:r>
              <a:rPr sz="10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if timeout after send:</a:t>
            </a:r>
            <a:endParaRPr sz="1050"/>
          </a:p>
          <a:p xmlns:a="http://schemas.openxmlformats.org/drawingml/2006/main">
            <a:pPr marL="0" indent="0">
              <a:lnSpc>
                <a:spcPts val="1600"/>
              </a:lnSpc>
              <a:buNone/>
            </a:pPr>
            <a:r>
              <a:rPr sz="10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    state = UNKNOWN</a:t>
            </a:r>
            <a:endParaRPr sz="1050"/>
          </a:p>
          <a:p xmlns:a="http://schemas.openxmlformats.org/drawingml/2006/main">
            <a:pPr marL="0" indent="0">
              <a:lnSpc>
                <a:spcPts val="1600"/>
              </a:lnSpc>
              <a:buNone/>
            </a:pPr>
            <a:r>
              <a:rPr sz="10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    keep headroom reserved</a:t>
            </a:r>
            <a:endParaRPr sz="1050"/>
          </a:p>
          <a:p xmlns:a="http://schemas.openxmlformats.org/drawingml/2006/main">
            <a:pPr marL="0" indent="0">
              <a:lnSpc>
                <a:spcPts val="1600"/>
              </a:lnSpc>
              <a:buNone/>
            </a:pPr>
            <a:r>
              <a:rPr sz="10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# 8 concurrent claims → 1 call</a:t>
            </a:r>
            <a:endParaRPr sz="105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A2CF17F-4330-4F2E-94BF-ED3AB490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526280"/>
            <a:ext cx="3931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 prompt can be copied. This invariant has to survive races, retries, revocation, and a lost provider response.</a:t>
            </a:r>
            <a:endParaRPr sz="11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692A6D1E-D696-465E-8E38-FF2481453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23560"/>
            <a:ext cx="10881360" cy="384048"/>
          </a:xfrm>
          <a:prstGeom xmlns:a="http://schemas.openxmlformats.org/drawingml/2006/main" prst="roundRect">
            <a:avLst>
              <a:gd name="adj" fmla="val 4761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88950E58-AEA8-4B3F-A024-7CD5EA571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5765292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DBB73825-EF45-4DF4-B11E-38DEFA86A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5623560"/>
            <a:ext cx="1047902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22C55E"/>
                </a:solidFill>
                <a:latin typeface="Courier New"/>
                <a:ea typeface="Courier New"/>
                <a:cs typeface="Courier New"/>
              </a:rPr>
              <a:t>A policy edit and a dispatch claim serialize at one SQLite write boundary: whichever commits first defines the result.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127399033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82EAB7E-6BF9-4B48-B186-493EAC310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1091153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200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RAZORPAY-NATIVE EXECUTION</a:t>
            </a:r>
            <a:endParaRPr sz="11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D186F8D-AF91-4B10-987E-EDE917E1A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4980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One registered action; every other tool is unavailable</a:t>
            </a:r>
            <a:endParaRPr sz="34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D1117CB-F1EF-4E61-9051-A6710535E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26464"/>
            <a:ext cx="981425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The MVP exposes create_payment_link through a Razorpay MCP-compatible transport. There is no generic state-changing pass-through.</a:t>
            </a:r>
            <a:endParaRPr sz="14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91A89E6-EE71-42BF-A48E-53B39E587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48840"/>
            <a:ext cx="6492240" cy="86868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0162C15-66FE-4BFE-A77F-EECE23260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58568"/>
            <a:ext cx="3017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22C55E"/>
                </a:solidFill>
                <a:latin typeface="Courier New"/>
                <a:ea typeface="Courier New"/>
                <a:cs typeface="Courier New"/>
              </a:rPr>
              <a:t>canonicalize_action</a:t>
            </a:r>
            <a:endParaRPr sz="12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CD10350-4DA1-47EB-8127-37EFE8285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9464"/>
            <a:ext cx="5852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Strict schema; exact amount, currency, reference, notes, and schema hash.</a:t>
            </a:r>
            <a:endParaRPr sz="11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9DE9B8F-4BAF-4AD3-9D94-942327EFF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54680"/>
            <a:ext cx="6492240" cy="86868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7E0FF47-1376-4364-8189-CD897C266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264408"/>
            <a:ext cx="3017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22C55E"/>
                </a:solidFill>
                <a:latin typeface="Courier New"/>
                <a:ea typeface="Courier New"/>
                <a:cs typeface="Courier New"/>
              </a:rPr>
              <a:t>claim_action_grant</a:t>
            </a:r>
            <a:endParaRPr sz="12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286FA00-E816-48C6-9586-0490C59A2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575304"/>
            <a:ext cx="5852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Current policy + exact bindings + one-owner compare-and-set before network I/O.</a:t>
            </a:r>
            <a:endParaRPr sz="115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F188E92-5819-441F-8198-17D306ACA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60520"/>
            <a:ext cx="6492240" cy="86868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C3742A0-BBCA-4B6F-AEBA-B144FDE8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270248"/>
            <a:ext cx="3017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3395FF"/>
                </a:solidFill>
                <a:latin typeface="Courier New"/>
                <a:ea typeface="Courier New"/>
                <a:cs typeface="Courier New"/>
              </a:rPr>
              <a:t>create_payment_link</a:t>
            </a:r>
            <a:endParaRPr sz="12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21AC8DD-5DED-4C53-84CB-3ED360F2E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81144"/>
            <a:ext cx="5852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The result is ACTION_ISSUED. Payment is not reported as settled.</a:t>
            </a:r>
            <a:endParaRPr sz="11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8F4B7A58-2087-4C39-B408-72716A352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148840"/>
            <a:ext cx="4099255" cy="2788920"/>
          </a:xfrm>
          <a:prstGeom xmlns:a="http://schemas.openxmlformats.org/drawingml/2006/main" prst="roundRect">
            <a:avLst>
              <a:gd name="adj" fmla="val 3934"/>
            </a:avLst>
          </a:prstGeom>
          <a:solidFill xmlns:a="http://schemas.openxmlformats.org/drawingml/2006/main">
            <a:srgbClr val="0F1830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91D9C29F-ED5F-483E-BBC8-3380775C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331720"/>
            <a:ext cx="3931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Evidence boundary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E2B4726-FD1D-46BE-B6CF-890404EC7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97480"/>
            <a:ext cx="365760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500"/>
              </a:lnSpc>
              <a:buNone/>
            </a:pPr>
            <a:r>
              <a:rPr sz="1000">
                <a:solidFill>
                  <a:srgbClr val="8FA0C4"/>
                </a:solidFill>
                <a:latin typeface="Courier New"/>
                <a:ea typeface="Courier New"/>
                <a:cs typeface="Courier New"/>
              </a:rPr>
              <a:t>AUTHORIZED</a:t>
            </a:r>
            <a:endParaRPr sz="1000"/>
          </a:p>
          <a:p xmlns:a="http://schemas.openxmlformats.org/drawingml/2006/main">
            <a:pPr marL="0" indent="0">
              <a:lnSpc>
                <a:spcPts val="1500"/>
              </a:lnSpc>
              <a:buNone/>
            </a:pPr>
            <a:r>
              <a:rPr sz="1000">
                <a:solidFill>
                  <a:srgbClr val="8FA0C4"/>
                </a:solidFill>
                <a:latin typeface="Courier New"/>
                <a:ea typeface="Courier New"/>
                <a:cs typeface="Courier New"/>
              </a:rPr>
              <a:t>  → DISPATCHING</a:t>
            </a:r>
            <a:endParaRPr sz="1000"/>
          </a:p>
          <a:p xmlns:a="http://schemas.openxmlformats.org/drawingml/2006/main">
            <a:pPr marL="0" indent="0">
              <a:lnSpc>
                <a:spcPts val="1500"/>
              </a:lnSpc>
              <a:buNone/>
            </a:pPr>
            <a:r>
              <a:rPr sz="1000">
                <a:solidFill>
                  <a:srgbClr val="8FA0C4"/>
                </a:solidFill>
                <a:latin typeface="Courier New"/>
                <a:ea typeface="Courier New"/>
                <a:cs typeface="Courier New"/>
              </a:rPr>
              <a:t>    → ACTION_ISSUED</a:t>
            </a:r>
            <a:endParaRPr sz="1000"/>
          </a:p>
          <a:p xmlns:a="http://schemas.openxmlformats.org/drawingml/2006/main">
            <a:pPr marL="0" indent="0">
              <a:lnSpc>
                <a:spcPts val="1500"/>
              </a:lnSpc>
              <a:buNone/>
            </a:pPr>
            <a:r>
              <a:rPr sz="1000">
                <a:solidFill>
                  <a:srgbClr val="8FA0C4"/>
                </a:solidFill>
                <a:latin typeface="Courier New"/>
                <a:ea typeface="Courier New"/>
                <a:cs typeface="Courier New"/>
              </a:rPr>
              <a:t>    → UNKNOWN</a:t>
            </a:r>
            <a:endParaRPr sz="1000"/>
          </a:p>
          <a:p xmlns:a="http://schemas.openxmlformats.org/drawingml/2006/main">
            <a:pPr marL="0" indent="0">
              <a:lnSpc>
                <a:spcPts val="1500"/>
              </a:lnSpc>
              <a:buNone/>
            </a:pPr>
            <a:r>
              <a:rPr sz="1000">
                <a:solidFill>
                  <a:srgbClr val="8FA0C4"/>
                </a:solidFill>
                <a:latin typeface="Courier New"/>
                <a:ea typeface="Courier New"/>
                <a:cs typeface="Courier New"/>
              </a:rPr>
              <a:t/>
            </a:r>
            <a:endParaRPr sz="1000"/>
          </a:p>
          <a:p xmlns:a="http://schemas.openxmlformats.org/drawingml/2006/main">
            <a:pPr marL="0" indent="0">
              <a:lnSpc>
                <a:spcPts val="1500"/>
              </a:lnSpc>
              <a:buNone/>
            </a:pPr>
            <a:r>
              <a:rPr sz="1000">
                <a:solidFill>
                  <a:srgbClr val="8FA0C4"/>
                </a:solidFill>
                <a:latin typeface="Courier New"/>
                <a:ea typeface="Courier New"/>
                <a:cs typeface="Courier New"/>
              </a:rPr>
              <a:t>Payment confirmation is separate.</a:t>
            </a:r>
            <a:endParaRPr sz="10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DDE5275-A6C9-4942-B755-C56F7F7FA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023360"/>
            <a:ext cx="361188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Razorpay documents a newly created Payment Link as Issued. Settlement needs a later authoritative event.</a:t>
            </a:r>
            <a:endParaRPr sz="11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FB8A6667-EAE0-49C5-96BA-1621CC85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57800"/>
            <a:ext cx="10911535" cy="86868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1A2547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5706AD5-678D-4619-AFFB-91794965A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440680"/>
            <a:ext cx="10088575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Vulcan is context, not a dependency: Razorpay positions it for routing, fraud and checkout intelligence; this build controls authorization.</a:t>
            </a:r>
            <a:endParaRPr sz="1350"/>
          </a:p>
        </p:txBody>
      </p:sp>
    </p:spTree>
    <p:extLst>
      <p:ext uri="{BB962C8B-B14F-4D97-AF65-F5344CB8AC3E}">
        <p14:creationId xmlns:p14="http://schemas.microsoft.com/office/powerpoint/2010/main" val="5755081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C5C45D7-DBC7-44D1-8D66-6069D7E7A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1091153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200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AUDIT + RECOVERY</a:t>
            </a:r>
            <a:endParaRPr sz="11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70BC9CB-4F1D-4909-8234-E841121DD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4980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Every transition leaves evidence before the network</a:t>
            </a:r>
            <a:endParaRPr sz="34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DCD853E-177D-4440-9D6A-9670D09E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26464"/>
            <a:ext cx="981425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Authorization and dispatch-start events commit with their state transition. A denial never reaches the actuator; ambiguity remains reserved.</a:t>
            </a:r>
            <a:endParaRPr sz="14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4F966D7-754D-470D-8EDB-DCACB461C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240280"/>
            <a:ext cx="5669280" cy="566928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3395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E2A9715-756E-48A7-A1F0-4EBAEE220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240280"/>
            <a:ext cx="23774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3395FF"/>
                </a:solidFill>
                <a:latin typeface="Courier New"/>
                <a:ea typeface="Courier New"/>
                <a:cs typeface="Courier New"/>
              </a:rPr>
              <a:t>AUTHORIZATION_ATTEMPT</a:t>
            </a:r>
            <a:endParaRPr sz="11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38F8636-C24A-479F-9C13-E788D5386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2240280"/>
            <a:ext cx="28346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full decision code</a:t>
            </a:r>
            <a:endParaRPr sz="11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C296F19-5135-4D66-8738-EAAE631B2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088"/>
            <a:ext cx="5394960" cy="566928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3395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653DB73-1CDC-4549-B2EE-2D9156A1C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90088"/>
            <a:ext cx="23774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3395FF"/>
                </a:solidFill>
                <a:latin typeface="Courier New"/>
                <a:ea typeface="Courier New"/>
                <a:cs typeface="Courier New"/>
              </a:rPr>
              <a:t>ACTION_AUTHORIZED</a:t>
            </a:r>
            <a:endParaRPr sz="11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446B94E-EDE8-45EA-91C0-320286A87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990088"/>
            <a:ext cx="28346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policy + cart + args hashes</a:t>
            </a:r>
            <a:endParaRPr sz="11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0A0279AC-952D-4E1C-B688-CBFF2AC2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739896"/>
            <a:ext cx="5120640" cy="566928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F43F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0D00B54-48D6-40C5-97BD-74D9B9816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739896"/>
            <a:ext cx="23774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43F5E"/>
                </a:solidFill>
                <a:latin typeface="Courier New"/>
                <a:ea typeface="Courier New"/>
                <a:cs typeface="Courier New"/>
              </a:rPr>
              <a:t>ACTION_DISPATCH_STARTED</a:t>
            </a:r>
            <a:endParaRPr sz="11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FE2B4F3-10AF-4BC0-B8B4-E2C979BEC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3739896"/>
            <a:ext cx="28346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durable before send</a:t>
            </a:r>
            <a:endParaRPr sz="11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224EBFF6-A3F3-47B4-B1F5-097FA11F1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4489704"/>
            <a:ext cx="4846320" cy="566928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0B1020"/>
          </a:solidFill>
          <a:ln xmlns:a="http://schemas.openxmlformats.org/drawingml/2006/main" w="12700">
            <a:solidFill>
              <a:srgbClr val="26325A"/>
            </a:solidFill>
            <a:prstDash val="dash"/>
          </a:ln>
        </p:spPr>
        <p:txBody xmlns:a="http://schemas.openxmlformats.org/drawingml/2006/main">
          <a:bodyPr/>
          <a:p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AC9BFB6-3343-4BAC-8F71-52B1F519F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4489704"/>
            <a:ext cx="23774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26325A"/>
                </a:solidFill>
                <a:latin typeface="Courier New"/>
                <a:ea typeface="Courier New"/>
                <a:cs typeface="Courier New"/>
              </a:rPr>
              <a:t>ACTION_ISSUED | UNKNOWN</a:t>
            </a:r>
            <a:endParaRPr sz="11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CCDAAF3A-D368-4707-8A7D-E53B83036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489704"/>
            <a:ext cx="28346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26325A"/>
                </a:solidFill>
                <a:latin typeface="Calibri"/>
                <a:ea typeface="Calibri"/>
                <a:cs typeface="Calibri"/>
              </a:rPr>
              <a:t>result or reconcile</a:t>
            </a:r>
            <a:endParaRPr sz="11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C26A45D1-BC98-46A2-BF81-35A8AB3B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240280"/>
            <a:ext cx="4236415" cy="301752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66FD5D5-8731-465A-BB02-DDBC2B0A3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423160"/>
            <a:ext cx="4206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Three truths stay separate</a:t>
            </a:r>
            <a:endParaRPr sz="14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9EFAB56-7543-4EDB-A659-920A81FE8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834640"/>
            <a:ext cx="3794760" cy="2194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342900" indent="-342900">
              <a:buSzPct val="100000"/>
              <a:buChar char="•"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event log</a:t>
            </a:r>
            <a:endParaRPr sz="1150"/>
          </a:p>
          <a:p xmlns:a="http://schemas.openxmlformats.org/drawingml/2006/main">
            <a:pPr marL="0" indent="0">
              <a:spcAft>
                <a:spcPts val="800"/>
              </a:spcAft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attempts, denials, transitions</a:t>
            </a:r>
            <a:endParaRPr sz="1150"/>
          </a:p>
          <a:p xmlns:a="http://schemas.openxmlformats.org/drawingml/2006/main">
            <a:pPr marL="342900" indent="-342900">
              <a:buSzPct val="100000"/>
              <a:buChar char="•"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outstanding exposure</a:t>
            </a:r>
            <a:endParaRPr sz="1150"/>
          </a:p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authorized, dispatching, issued, unknown</a:t>
            </a:r>
            <a:endParaRPr sz="1150"/>
          </a:p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confirmed payment</a:t>
            </a:r>
            <a:endParaRPr sz="1150"/>
          </a:p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only after authoritative evidence</a:t>
            </a:r>
            <a:endParaRPr sz="11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00DBCF84-AF19-40EB-AF46-C49F7A8D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577840"/>
            <a:ext cx="10881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i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 timeout after dispatch is not ‘nothing happened.’ It becomes UNKNOWN, blocks redispatch, and preserves headroom.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9556438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E3302DC-C01C-452A-84E2-47A133DA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1091153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200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LIVE DEMO</a:t>
            </a:r>
            <a:endParaRPr sz="11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18E9BE7-578B-4673-84D5-6775AA813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4980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The failure proves the boundary</a:t>
            </a:r>
            <a:endParaRPr sz="34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5AC3A25-D3FF-4400-BD01-AD091F99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26464"/>
            <a:ext cx="981425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Trigger one denial, recover to a smaller exact cart, issue one link, then revoke the policy.</a:t>
            </a:r>
            <a:endParaRPr sz="14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0AF98C2-14D5-406F-A322-CFD748A75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48840"/>
            <a:ext cx="5349240" cy="320040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BBAF061-D4AD-45CE-9405-010D32F12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331720"/>
            <a:ext cx="4572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43F5E"/>
                </a:solidFill>
                <a:latin typeface="Calibri"/>
                <a:ea typeface="Calibri"/>
                <a:cs typeface="Calibri"/>
              </a:rPr>
              <a:t>The breach attempt</a:t>
            </a:r>
            <a:endParaRPr sz="1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DBE8BA2-9A75-4787-AE73-14101ED3E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97480"/>
            <a:ext cx="4617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“Add the Parmigiano Reggiano and the olive oil, then check out”</a:t>
            </a:r>
            <a:endParaRPr sz="13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6FC26D9-6B72-4E7F-84ED-D82B60992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337560"/>
            <a:ext cx="4617720" cy="384048"/>
          </a:xfrm>
          <a:prstGeom xmlns:a="http://schemas.openxmlformats.org/drawingml/2006/main" prst="roundRect">
            <a:avLst>
              <a:gd name="adj" fmla="val 4761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F43F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EADF56C-591C-450C-BCCD-6C5F973AD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3479292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3F5E"/>
          </a:solidFill>
          <a:ln xmlns:a="http://schemas.openxmlformats.org/drawingml/2006/main" w="12700">
            <a:solidFill>
              <a:srgbClr val="F43F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83E941B-86A3-4539-B800-FA9E82CED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736" y="3337560"/>
            <a:ext cx="421538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F43F5E"/>
                </a:solidFill>
                <a:latin typeface="Courier New"/>
                <a:ea typeface="Courier New"/>
                <a:cs typeface="Courier New"/>
              </a:rPr>
              <a:t>BLOCK_WINDOW_CAP_EXCEEDED</a:t>
            </a:r>
            <a:endParaRPr sz="10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13F0272-EAA3-4A60-B8B3-BF58A6354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840480"/>
            <a:ext cx="461772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700"/>
              </a:lnSpc>
              <a:buNone/>
            </a:pPr>
            <a:r>
              <a:rPr sz="1150">
                <a:solidFill>
                  <a:srgbClr val="F43F5E"/>
                </a:solidFill>
                <a:latin typeface="Courier New"/>
                <a:ea typeface="Courier New"/>
                <a:cs typeface="Courier New"/>
              </a:rPr>
              <a:t>cart   ₹2,034</a:t>
            </a:r>
            <a:endParaRPr sz="1150"/>
          </a:p>
          <a:p xmlns:a="http://schemas.openxmlformats.org/drawingml/2006/main">
            <a:pPr marL="0" indent="0">
              <a:lnSpc>
                <a:spcPts val="1700"/>
              </a:lnSpc>
              <a:buNone/>
            </a:pPr>
            <a:r>
              <a:rPr sz="1150">
                <a:solidFill>
                  <a:srgbClr val="F43F5E"/>
                </a:solidFill>
                <a:latin typeface="Courier New"/>
                <a:ea typeface="Courier New"/>
                <a:cs typeface="Courier New"/>
              </a:rPr>
              <a:t>cap    ₹1,000</a:t>
            </a:r>
            <a:endParaRPr sz="1150"/>
          </a:p>
          <a:p xmlns:a="http://schemas.openxmlformats.org/drawingml/2006/main">
            <a:pPr marL="0" indent="0">
              <a:lnSpc>
                <a:spcPts val="1700"/>
              </a:lnSpc>
              <a:buNone/>
            </a:pPr>
            <a:r>
              <a:rPr sz="1150">
                <a:solidFill>
                  <a:srgbClr val="F43F5E"/>
                </a:solidFill>
                <a:latin typeface="Courier New"/>
                <a:ea typeface="Courier New"/>
                <a:cs typeface="Courier New"/>
              </a:rPr>
              <a:t>action 0 adapter calls</a:t>
            </a:r>
            <a:endParaRPr sz="11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86B0DBF-FC30-4E06-B3FF-A216475EC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800600"/>
            <a:ext cx="46177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Chat only proposes. The separate authorization request is denied before the adapter.</a:t>
            </a:r>
            <a:endParaRPr sz="11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CC9CF4B5-D9F9-48C6-9CF3-1BF1CFA8B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148840"/>
            <a:ext cx="5349240" cy="320040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88F3B57-3E14-4AF4-9890-9CDB78055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331720"/>
            <a:ext cx="4572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22C55E"/>
                </a:solidFill>
                <a:latin typeface="Calibri"/>
                <a:ea typeface="Calibri"/>
                <a:cs typeface="Calibri"/>
              </a:rPr>
              <a:t>The graceful recovery</a:t>
            </a:r>
            <a:endParaRPr sz="15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73B7974-ED5D-4CA4-B804-BFA0D3C1B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697480"/>
            <a:ext cx="46177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“Remove the premium items; authorize the exact ₹486 cart.”</a:t>
            </a:r>
            <a:endParaRPr sz="12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894B291-91D8-4775-9CBF-B8E183648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566160"/>
            <a:ext cx="4617720" cy="384048"/>
          </a:xfrm>
          <a:prstGeom xmlns:a="http://schemas.openxmlformats.org/drawingml/2006/main" prst="roundRect">
            <a:avLst>
              <a:gd name="adj" fmla="val 4761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4D0E8865-1C06-4246-B4E8-0B9705665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1424" y="3707892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B24FF4C-0254-4248-8B8A-22FC1A4C7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6016" y="3566160"/>
            <a:ext cx="421538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22C55E"/>
                </a:solidFill>
                <a:latin typeface="Courier New"/>
                <a:ea typeface="Courier New"/>
                <a:cs typeface="Courier New"/>
              </a:rPr>
              <a:t>ALLOW  →  ACTION_ISSUED</a:t>
            </a:r>
            <a:endParaRPr sz="10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D894F7C3-F01F-4F43-B92A-DDFE70245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4069080"/>
            <a:ext cx="46177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One Payment Link is issued—not settled. Then policy v2 is revoked; the next ₹549 coffee authorization is blocked.</a:t>
            </a:r>
            <a:endParaRPr sz="11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FB94C98D-F031-4704-A190-B08FCDCC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577840"/>
            <a:ext cx="10911535" cy="73152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A2547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93BB5967-8244-45E9-9653-72FD22820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77840"/>
            <a:ext cx="10088575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Live failure fallback: python scripts/demo.py runs the same path with a temporary database, no keys, and no network.</a:t>
            </a:r>
            <a:endParaRPr sz="1350"/>
          </a:p>
        </p:txBody>
      </p:sp>
    </p:spTree>
    <p:extLst>
      <p:ext uri="{BB962C8B-B14F-4D97-AF65-F5344CB8AC3E}">
        <p14:creationId xmlns:p14="http://schemas.microsoft.com/office/powerpoint/2010/main" val="127868535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BE6ECD4-105D-49E9-BEA4-5E36F0F7A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1091153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200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REPRODUCIBLE PROOF</a:t>
            </a:r>
            <a:endParaRPr sz="11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707E424-6712-4344-8F6F-A2CB8D4E6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4980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Three proofs, reproducible on this laptop</a:t>
            </a:r>
            <a:endParaRPr sz="34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F25AB7D-C249-448C-B5AB-60A8F3C93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26464"/>
            <a:ext cx="981425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No invented GMV uplift. These are safety and execution properties backed by tests and the rehearsal.</a:t>
            </a:r>
            <a:endParaRPr sz="14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60CBA4B-BDD9-4037-B77C-FD88725E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48840"/>
            <a:ext cx="3429000" cy="2514600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F02AFB9-819A-4605-8B6C-9A5E304BC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288036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600" b="1">
                <a:solidFill>
                  <a:srgbClr val="F43F5E"/>
                </a:solidFill>
                <a:latin typeface="Cambria"/>
                <a:ea typeface="Cambria"/>
                <a:cs typeface="Cambria"/>
              </a:rPr>
              <a:t>51</a:t>
            </a:r>
            <a:endParaRPr sz="46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EA9A31D-6FF5-4DCC-B1DD-D74B6551E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46120"/>
            <a:ext cx="2880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Backend tests</a:t>
            </a:r>
            <a:endParaRPr sz="1350"/>
          </a:p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passing</a:t>
            </a:r>
            <a:endParaRPr sz="13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AEE71BA-E3A4-4377-AA89-B037A092D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40480"/>
            <a:ext cx="28803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policy boundaries, exact grants, concurrency, unknown outcomes, and demo smoke</a:t>
            </a:r>
            <a:endParaRPr sz="11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CA3AE74-1C99-4163-8D00-6F724FF76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48840"/>
            <a:ext cx="3429000" cy="2514600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6E25DC2-32C4-4083-A375-755E20851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331720"/>
            <a:ext cx="288036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600" b="1">
                <a:solidFill>
                  <a:srgbClr val="3395FF"/>
                </a:solidFill>
                <a:latin typeface="Cambria"/>
                <a:ea typeface="Cambria"/>
                <a:cs typeface="Cambria"/>
              </a:rPr>
              <a:t>8 → 1</a:t>
            </a:r>
            <a:endParaRPr sz="46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87E5C01-960C-40E7-8032-E66169E90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3246120"/>
            <a:ext cx="2880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Concurrent claims</a:t>
            </a:r>
            <a:endParaRPr sz="1350"/>
          </a:p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 actuator calls</a:t>
            </a:r>
            <a:endParaRPr sz="13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CB6C35F-A53D-4C9D-BBCA-9E93DE55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3840480"/>
            <a:ext cx="28803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eight simultaneous claims; exactly one simulated external action</a:t>
            </a:r>
            <a:endParaRPr sz="11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84F09EC6-682F-48BF-92A4-7B2C7A0E7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148840"/>
            <a:ext cx="3429000" cy="2514600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DF68B9D-96DD-41DA-B682-0E97730BB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331720"/>
            <a:ext cx="288036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600" b="1">
                <a:solidFill>
                  <a:srgbClr val="22C55E"/>
                </a:solidFill>
                <a:latin typeface="Cambria"/>
                <a:ea typeface="Cambria"/>
                <a:cs typeface="Cambria"/>
              </a:rPr>
              <a:t>0</a:t>
            </a:r>
            <a:endParaRPr sz="46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E73756C-5F63-4947-AE49-631D1D9F7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246120"/>
            <a:ext cx="2880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Unauthorized</a:t>
            </a:r>
            <a:endParaRPr sz="1350"/>
          </a:p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actuator calls</a:t>
            </a:r>
            <a:endParaRPr sz="13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C68C753-844B-4CB9-9E95-1E29B8D6E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840480"/>
            <a:ext cx="28803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blocked and revoked authorizations never reach the adapter in the rehearsal</a:t>
            </a:r>
            <a:endParaRPr sz="11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C856CD13-6146-447D-B415-C338A9AD0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937760"/>
            <a:ext cx="10911535" cy="132588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BE42133-9443-4079-BB87-1431E2D0A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120640"/>
            <a:ext cx="10088575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Also shipped: frontend production build  ·  npm audit: 0 vulnerabilities  ·  integer paise  ·  deterministic fallback  ·  outcome-aware metrics</a:t>
            </a:r>
            <a:endParaRPr sz="12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8ED7C94-A0F1-4CE8-94BB-43292C899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623560"/>
            <a:ext cx="1008857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Business impact is framed as bounded authorized exposure—not settled revenue—until payment confirmation exists.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90516723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DC465BC-5E3E-40F7-825F-D2A622A12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1091153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200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OBJECTIONS + LIMITS</a:t>
            </a:r>
            <a:endParaRPr sz="11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6F815B8-AB97-436D-B984-E5FE7F4FC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4980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this proves—and what it does not</a:t>
            </a:r>
            <a:endParaRPr sz="34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EDBB194-F21F-4D96-A5C0-CC87BA2F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5349240" cy="173736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7D22A2F-7D6D-437D-9CAE-62CFA9480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130552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“Is this a rules engine with AI decoration?”</a:t>
            </a:r>
            <a:endParaRPr sz="135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148346F-9056-4413-8D6A-363F484D2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624328"/>
            <a:ext cx="47091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AI handles open-ended retrieval and cart operations. The payment boundary is deliberately deterministic because model creativity is not authority.</a:t>
            </a:r>
            <a:endParaRPr sz="115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FC65A1D-DF64-4FB4-8386-D60D07214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965960"/>
            <a:ext cx="5349240" cy="173736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A03F295-C9BD-4A0F-AB60-591618ED9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130552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“What if policy changes mid-checkout?”</a:t>
            </a:r>
            <a:endParaRPr sz="13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FAF45F5-E949-4CE0-9B25-129D0772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24328"/>
            <a:ext cx="47091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Version and policy hash are revalidated at dispatch claim. A stale, unclaimed grant is cancelled before network I/O.</a:t>
            </a:r>
            <a:endParaRPr sz="11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0CF2795-711C-42C4-A307-4AC28CA8B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31920"/>
            <a:ext cx="5349240" cy="173736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6C43616-30AB-45C5-B033-0EB9C49F5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096512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“What if Razorpay times out after accepting?”</a:t>
            </a:r>
            <a:endParaRPr sz="13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E0698D7-C4AB-428F-B1ED-F00FEA1E4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90288"/>
            <a:ext cx="47091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The attempt becomes UNKNOWN, keeps headroom, and cannot auto-repeat. Resolution requires authoritative reconciliation.</a:t>
            </a:r>
            <a:endParaRPr sz="11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48B3794-C2CD-4690-A71C-01945888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931920"/>
            <a:ext cx="5349240" cy="173736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9138501-8CE0-47C3-A642-0627308D0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096512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“Is identity or Vulcan production-integrated?”</a:t>
            </a:r>
            <a:endParaRPr sz="13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006605C-7BBE-49FC-BD2B-82BB41F09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590288"/>
            <a:ext cx="47091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No. Browser identity is an MVP stub and no private Vulcan API is assumed. Production needs an authenticated principal and provider events.</a:t>
            </a:r>
            <a:endParaRPr sz="11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E45ED78-B429-44E3-A61E-4FF2DAC05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43600"/>
            <a:ext cx="10911535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Retry Budget stays secondary: reopen only with confirmed compliance windows and measured batch lift against fixed-schedule and oracle baselines.</a:t>
            </a:r>
            <a:endParaRPr sz="1700"/>
          </a:p>
        </p:txBody>
      </p:sp>
    </p:spTree>
    <p:extLst>
      <p:ext uri="{BB962C8B-B14F-4D97-AF65-F5344CB8AC3E}">
        <p14:creationId xmlns:p14="http://schemas.microsoft.com/office/powerpoint/2010/main" val="26467479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6EDCBD6-969C-4521-B947-36A45758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11680" y="3108960"/>
            <a:ext cx="6035040" cy="6035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95FF">
              <a:alpha val="10000"/>
            </a:srgbClr>
          </a:solidFill>
          <a:ln xmlns:a="http://schemas.openxmlformats.org/drawingml/2006/main" w="12700">
            <a:solidFill>
              <a:srgbClr val="0B102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1025BA5-18EC-461E-9CE6-4745AC04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50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TRACK 01  ·  WORKING SUBMISSION</a:t>
            </a:r>
            <a:endParaRPr sz="12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C4EEE1F-278C-4CDB-BA67-34D026F74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377440"/>
            <a:ext cx="100584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Chat proposes. Policy authorizes.</a:t>
            </a:r>
            <a:endParaRPr sz="4000"/>
          </a:p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One grant dispatches one action.</a:t>
            </a:r>
            <a:endParaRPr sz="40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A282D69-90C4-41AD-8946-4DC8E452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9144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Action Firewall turns Razorpay agentic checkout into a bounded, reviewable control plane.</a:t>
            </a:r>
            <a:endParaRPr sz="15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B2EF2D9-2279-46BB-A0D8-8E87945E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617720"/>
            <a:ext cx="7863840" cy="384048"/>
          </a:xfrm>
          <a:prstGeom xmlns:a="http://schemas.openxmlformats.org/drawingml/2006/main" prst="roundRect">
            <a:avLst>
              <a:gd name="adj" fmla="val 4761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0B5C67B-BCCF-450E-ADE8-02942DEE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4759452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F3A12704-4F5A-4B87-8FB2-0DF934F39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4617720"/>
            <a:ext cx="746150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22C55E"/>
                </a:solidFill>
                <a:latin typeface="Courier New"/>
                <a:ea typeface="Courier New"/>
                <a:cs typeface="Courier New"/>
              </a:rPr>
              <a:t>pytest -q → 61 passed   ·   npm audit → 0   ·   offline rehearsal → passed</a:t>
            </a:r>
            <a:endParaRPr sz="10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D6C48F3-0BAD-40FF-8055-FC67041AD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035040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Ayush Choudhary  ·  Razorpay AI Buildathon 2026  ·  Track 01: AI Growth &amp; Agentic Commerce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35000161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2026-09-02T11:20:57.6060000Z</dcterms:created>
  <dcterms:modified xsi:type="dcterms:W3CDTF">2026-09-02T11:20:57.6060000Z</dcterms:modified>
</coreProperties>
</file>