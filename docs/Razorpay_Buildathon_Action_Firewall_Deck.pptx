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907449de2b4801" /><Relationship Type="http://schemas.openxmlformats.org/officeDocument/2006/relationships/extended-properties" Target="/docProps/app.xml" Id="Rfd72ff524ce44645" /><Relationship Type="http://schemas.openxmlformats.org/officeDocument/2006/relationships/officeDocument" Target="/ppt/presentation.xml" Id="R6a0eddb224ef49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81bf32c6324fc0"/>
  </p:sldMasterIdLst>
  <p:notesMasterIdLst>
    <p:notesMasterId xmlns:r="http://schemas.openxmlformats.org/officeDocument/2006/relationships" r:id="R31c57f5599d14519"/>
  </p:notesMasterIdLst>
  <p:sldIdLst>
    <p:sldId xmlns:r="http://schemas.openxmlformats.org/officeDocument/2006/relationships" id="256" r:id="Rf0c1a5c990894818"/>
    <p:sldId xmlns:r="http://schemas.openxmlformats.org/officeDocument/2006/relationships" id="257" r:id="Rae99784463de46d7"/>
    <p:sldId xmlns:r="http://schemas.openxmlformats.org/officeDocument/2006/relationships" id="258" r:id="Re10c3ceb076346ca"/>
    <p:sldId xmlns:r="http://schemas.openxmlformats.org/officeDocument/2006/relationships" id="259" r:id="R3f92257eb7374158"/>
    <p:sldId xmlns:r="http://schemas.openxmlformats.org/officeDocument/2006/relationships" id="260" r:id="R0156c7f4ca3e4ed9"/>
    <p:sldId xmlns:r="http://schemas.openxmlformats.org/officeDocument/2006/relationships" id="261" r:id="R7d3d9aadb9e8423e"/>
    <p:sldId xmlns:r="http://schemas.openxmlformats.org/officeDocument/2006/relationships" id="262" r:id="Rcb5b17b2d75145d1"/>
    <p:sldId xmlns:r="http://schemas.openxmlformats.org/officeDocument/2006/relationships" id="263" r:id="R812d549a44df45ad"/>
    <p:sldId xmlns:r="http://schemas.openxmlformats.org/officeDocument/2006/relationships" id="264" r:id="Rbfa5684fe09d4cb3"/>
    <p:sldId xmlns:r="http://schemas.openxmlformats.org/officeDocument/2006/relationships" id="265" r:id="Rb81bde2584864c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34b08423284853" /><Relationship Type="http://schemas.openxmlformats.org/officeDocument/2006/relationships/slideMaster" Target="/ppt/slideMasters/slideMaster1.xml" Id="R2281bf32c6324fc0" /><Relationship Type="http://schemas.openxmlformats.org/officeDocument/2006/relationships/notesMaster" Target="/ppt/notesMasters/notesMaster1.xml" Id="R31c57f5599d14519" /><Relationship Type="http://schemas.openxmlformats.org/officeDocument/2006/relationships/presProps" Target="/ppt/presProps.xml" Id="Re3b6b86155e24914" /><Relationship Type="http://schemas.openxmlformats.org/officeDocument/2006/relationships/viewProps" Target="/ppt/viewProps.xml" Id="R714a06e964ca4c51" /><Relationship Type="http://schemas.openxmlformats.org/officeDocument/2006/relationships/tableStyles" Target="/ppt/tableStyles.xml" Id="R37b9972db26a4b83" /><Relationship Type="http://schemas.openxmlformats.org/officeDocument/2006/relationships/slide" Target="/ppt/slides/slide1.xml" Id="Rf0c1a5c990894818" /><Relationship Type="http://schemas.openxmlformats.org/officeDocument/2006/relationships/slide" Target="/ppt/slides/slide2.xml" Id="Rae99784463de46d7" /><Relationship Type="http://schemas.openxmlformats.org/officeDocument/2006/relationships/slide" Target="/ppt/slides/slide3.xml" Id="Re10c3ceb076346ca" /><Relationship Type="http://schemas.openxmlformats.org/officeDocument/2006/relationships/slide" Target="/ppt/slides/slide4.xml" Id="R3f92257eb7374158" /><Relationship Type="http://schemas.openxmlformats.org/officeDocument/2006/relationships/slide" Target="/ppt/slides/slide5.xml" Id="R0156c7f4ca3e4ed9" /><Relationship Type="http://schemas.openxmlformats.org/officeDocument/2006/relationships/slide" Target="/ppt/slides/slide6.xml" Id="R7d3d9aadb9e8423e" /><Relationship Type="http://schemas.openxmlformats.org/officeDocument/2006/relationships/slide" Target="/ppt/slides/slide7.xml" Id="Rcb5b17b2d75145d1" /><Relationship Type="http://schemas.openxmlformats.org/officeDocument/2006/relationships/slide" Target="/ppt/slides/slide8.xml" Id="R812d549a44df45ad" /><Relationship Type="http://schemas.openxmlformats.org/officeDocument/2006/relationships/slide" Target="/ppt/slides/slide9.xml" Id="Rbfa5684fe09d4cb3" /><Relationship Type="http://schemas.openxmlformats.org/officeDocument/2006/relationships/slide" Target="/ppt/slides/slide10.xml" Id="Rb81bde2584864c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d76348170a4a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c88e24a0904d30" /><Relationship Type="http://schemas.openxmlformats.org/officeDocument/2006/relationships/notesMaster" Target="/ppt/notesMasters/notesMaster1.xml" Id="Rb06f72a26ee74c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7a05f9b2064488" /><Relationship Type="http://schemas.openxmlformats.org/officeDocument/2006/relationships/notesMaster" Target="/ppt/notesMasters/notesMaster1.xml" Id="R116a1894a6c944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bea190578a45d1" /><Relationship Type="http://schemas.openxmlformats.org/officeDocument/2006/relationships/notesMaster" Target="/ppt/notesMasters/notesMaster1.xml" Id="R9daacbd7c5dd43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7f81d8c5e74d7a" /><Relationship Type="http://schemas.openxmlformats.org/officeDocument/2006/relationships/notesMaster" Target="/ppt/notesMasters/notesMaster1.xml" Id="R8e9b399e23ae4d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256f58957642ad" /><Relationship Type="http://schemas.openxmlformats.org/officeDocument/2006/relationships/notesMaster" Target="/ppt/notesMasters/notesMaster1.xml" Id="R15ed4ecdc0f144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837e9ee1f4f468f" /><Relationship Type="http://schemas.openxmlformats.org/officeDocument/2006/relationships/notesMaster" Target="/ppt/notesMasters/notesMaster1.xml" Id="Rb6990afd2e9049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66709eb62f48a1" /><Relationship Type="http://schemas.openxmlformats.org/officeDocument/2006/relationships/notesMaster" Target="/ppt/notesMasters/notesMaster1.xml" Id="R7af118deb6e844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8caa9310074307" /><Relationship Type="http://schemas.openxmlformats.org/officeDocument/2006/relationships/notesMaster" Target="/ppt/notesMasters/notesMaster1.xml" Id="R2e6da24803c244f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a674302947a499f" /><Relationship Type="http://schemas.openxmlformats.org/officeDocument/2006/relationships/notesMaster" Target="/ppt/notesMasters/notesMaster1.xml" Id="R26b1ed5f046f41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a65216eb754ca8" /><Relationship Type="http://schemas.openxmlformats.org/officeDocument/2006/relationships/notesMaster" Target="/ppt/notesMasters/notesMaster1.xml" Id="R6e268076d7d24c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boundary, not the chatbot: chat proposes; policy authorizes; one exact grant permits one action.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https://razorpay.com/buildathon/ (Track 01 framing and evaluation bar)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Land the reframe in one sentence: the model's proposal is useful input, never payment authority. The concrete risks are stale state, substituted arguments, duplicate dispatch, and ambiguous provider outcomes.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https://razorpay.com/buildathon/ (Track 01 bar)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Pause at explicit confirmation: this is a separate endpoint, not an LLM intent. Then point out that authorization and dispatch ownership are separate atomic transitions.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backend/app/agent.py, backend/app/actions.py, backend/app/store.py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core engineering proof. Explain that the earlier reservation-only implementation still permitted duplicate external calls; the current grant adds exact request binding and one dispatch owner.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backend/app/authorization.py, backend/app/store.py, backend/tests/test_action_firewall.py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imply private Vulcan access or a generic MCP security wrapper. This build uses one locally registered action and can run the same boundary against the simulated adapter or Remote MCP transport.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https://razorpay.com/docs/mcp-server/tools-reference/</a:t>
            </a:r>
            <a:endParaRPr/>
          </a:p>
          <a:p xmlns:a="http://schemas.openxmlformats.org/drawingml/2006/main">
            <a:r>
              <a:t>- https://razorpay.com/docs/mcp-server/remote/</a:t>
            </a:r>
            <a:endParaRPr/>
          </a:p>
          <a:p xmlns:a="http://schemas.openxmlformats.org/drawingml/2006/main">
            <a:r>
              <a:t>- https://razorpay.com/docs/payments/payment-links/create/</a:t>
            </a:r>
            <a:endParaRPr/>
          </a:p>
          <a:p xmlns:a="http://schemas.openxmlformats.org/drawingml/2006/main">
            <a:r>
              <a:t>- https://razorpay.com/blog/?p=27542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audit screen or the event rows. SQLite triggers reject audit-row updates and deletes; this is still application append-only evidence, not a signed or externally anchored ledger. If a provider call times out after send, the state is UNKNOWN and no retry control is offered. Crash-stranded dispatch claims recover to the same conservative state.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backend/app/store.py, backend/app/mcp_client.py, backend/tests/test_action_firewall.py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UI: discovery, oversized proposal, separate authorization denial, remove the two premium lines, authorize the ₹486 cart, revoke, and attempt the ₹549 coffee cart. If the UI or network misbehaves, switch immediately to the offline rehearsal.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backend/scripts/demo.py, backend/tests/test_demo_smoke.py</a:t>
            </a:r>
            <a:endParaRPr/>
          </a:p>
          <a:p xmlns:a="http://schemas.openxmlformats.org/drawingml/2006/main">
            <a:r>
              <a:t>- https://razorpay.com/buildathon/ (failure-handling requirement)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reproducible engineering metrics, not claims of production uplift. Run pytest, npm audit, and the offline rehearsal if challenged.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verification on 2026-09-02: 51 backend tests; Next.js production build passed; npm audit reported 0 vulnerabilities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explicit about the two production gaps: identity is not authenticated, and provider reconciliation/webhook confirmation is not wired. Honesty strengthens the proof boundary. Retry Budget remains a challenger, not the build.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https://razorpay.com/blog/?p=27542 (public Vulcan positioning)</a:t>
            </a:r>
            <a:endParaRPr/>
          </a:p>
          <a:p xmlns:a="http://schemas.openxmlformats.org/drawingml/2006/main">
            <a:r>
              <a:t>- https://razorpay.com/buildathon/ (Track 03 bar and examples)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invariant, then invite the panel to try to race, tamper with, revoke, or replay the exact action.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https://razorpay.com/buildathon/</a:t>
            </a:r>
            <a:endParaRPr/>
          </a:p>
          <a:p xmlns:a="http://schemas.openxmlformats.org/drawingml/2006/main">
            <a:r>
              <a:t>- Internal build evidence: current repository and verification commands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ec250230714d6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a3fd850543446f" /><Relationship Type="http://schemas.openxmlformats.org/officeDocument/2006/relationships/slideLayout" Target="/ppt/slideLayouts/slideLayout1.xml" Id="Rf8b65f5b0b58466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b65f5b0b58466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af95a17bfb4f58" /><Relationship Type="http://schemas.openxmlformats.org/officeDocument/2006/relationships/notesSlide" Target="/ppt/notesSlides/notesSlide1.xml" Id="R9819b365c2114b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2140569160405c" /><Relationship Type="http://schemas.openxmlformats.org/officeDocument/2006/relationships/notesSlide" Target="/ppt/notesSlides/notesSlide2.xml" Id="R2cb9e6d55f2d46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2fecedbc184697" /><Relationship Type="http://schemas.openxmlformats.org/officeDocument/2006/relationships/notesSlide" Target="/ppt/notesSlides/notesSlide3.xml" Id="R87f6b30e26974f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1ede239e549ac" /><Relationship Type="http://schemas.openxmlformats.org/officeDocument/2006/relationships/notesSlide" Target="/ppt/notesSlides/notesSlide4.xml" Id="R58a307b285ee4d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69d444a0f4db5" /><Relationship Type="http://schemas.openxmlformats.org/officeDocument/2006/relationships/notesSlide" Target="/ppt/notesSlides/notesSlide5.xml" Id="R4dab7e9146044e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4f289e1c614712" /><Relationship Type="http://schemas.openxmlformats.org/officeDocument/2006/relationships/notesSlide" Target="/ppt/notesSlides/notesSlide6.xml" Id="R0df03e98ed8142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0774cd69144d6" /><Relationship Type="http://schemas.openxmlformats.org/officeDocument/2006/relationships/notesSlide" Target="/ppt/notesSlides/notesSlide7.xml" Id="Rac163ee6b31642a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0776c00664eb9" /><Relationship Type="http://schemas.openxmlformats.org/officeDocument/2006/relationships/notesSlide" Target="/ppt/notesSlides/notesSlide8.xml" Id="R151e8e05cd0f45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f0f3faeff48a2" /><Relationship Type="http://schemas.openxmlformats.org/officeDocument/2006/relationships/notesSlide" Target="/ppt/notesSlides/notesSlide9.xml" Id="Rb68fcca7cfc443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3b913d2004fae" /><Relationship Type="http://schemas.openxmlformats.org/officeDocument/2006/relationships/notesSlide" Target="/ppt/notesSlides/notesSlide10.xml" Id="R1e6c49d9d1b046a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0A8BB95-CF72-475F-9D7F-8FE8C007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-1737360"/>
            <a:ext cx="5669280" cy="5669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95FF">
              <a:alpha val="12000"/>
            </a:srgbClr>
          </a:solidFill>
          <a:ln xmlns:a="http://schemas.openxmlformats.org/drawingml/2006/main" w="12700">
            <a:solidFill>
              <a:srgbClr val="0B1020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B115294-CC7F-48A2-B2E3-E75284D7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840480"/>
            <a:ext cx="4023360" cy="4023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>
              <a:alpha val="8000"/>
            </a:srgbClr>
          </a:solidFill>
          <a:ln xmlns:a="http://schemas.openxmlformats.org/drawingml/2006/main" w="12700">
            <a:solidFill>
              <a:srgbClr val="0B1020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AC9CD1A-899D-4C32-9D98-66481935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5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RAZORPAY AI BUILDATHON 2026   ·   TRACK 01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761EA6A-CC42-45FD-8BFA-816BAC36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95097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Action Firewall</a:t>
            </a:r>
            <a:endParaRPr sz="4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E61A0AB-CC14-43E6-A0CF-59509EAF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87168"/>
            <a:ext cx="95097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3395FF"/>
                </a:solidFill>
                <a:latin typeface="Cambria"/>
                <a:ea typeface="Cambria"/>
                <a:cs typeface="Cambria"/>
              </a:rPr>
              <a:t>Agentic Checkout Authorization</a:t>
            </a:r>
            <a:endParaRPr sz="4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97A3E0-45E5-4C08-9BDC-7E45BB18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29000"/>
            <a:ext cx="8778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i="1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Agentic commerce is an authorization problem — not a checkout problem.</a:t>
            </a:r>
            <a:endParaRPr sz="17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13A7E16-1540-48F8-A36F-9DDA1A3D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384048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20BD5FB-00E7-4D3C-B6E0-F9914ED3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30225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294D858-ABDD-41B5-8E14-549760B9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160520"/>
            <a:ext cx="343814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CHAT → PROPOSE ONLY   zero action calls</a:t>
            </a:r>
            <a:endParaRPr sz="10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CA8E1FB-7D93-4EDB-AF03-9BE8C8C1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160520"/>
            <a:ext cx="402336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DE48DAD-AC33-4BB6-8FD8-ADB552D5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430225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8003353-5B07-4345-AB39-211AFBDD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776" y="4160520"/>
            <a:ext cx="362102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EXACT GRANT → ONE CALL   ₹486 / ₹1,000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A3C91F0-6F94-4073-AFD8-FE426905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7863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An AI can assemble the cart. Only a customer-defined policy may authorize the exact Razorpay action.</a:t>
            </a:r>
            <a:endParaRPr sz="12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52EEC29-0883-4413-A889-BA174AB0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806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Razorpay MCP-compatible actuator  ·  deterministic policy  ·  51 tests  ·  offline demo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5420723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B4DB002-7A4B-4931-BD64-82B75144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THE CONTROL GAP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5EE299-E99E-4D90-8007-046AB6A6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model is not a payment principal.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47F2775-2010-419C-BEBB-D5216188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Natural language can express intent. It cannot carry durable authority across cart edits, policy changes, retries, and provider timeouts.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FD62354-B6F9-4ED0-9837-1D6F1784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3429000" cy="2148840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00B9BA7-4BE0-415C-8D0E-BE4A1D6C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3957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>
              <a:alpha val="20000"/>
            </a:srgbClr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0C2D248-14D5-4D21-9741-1FE78737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39572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43F5E"/>
                </a:solidFill>
                <a:latin typeface="Calibri"/>
                <a:ea typeface="Calibri"/>
                <a:cs typeface="Calibri"/>
              </a:rPr>
              <a:t>1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0612303-3168-414A-8F1F-A3CB61B8D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774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6E15257-E76F-4D5B-81AD-F267F7D2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971800"/>
            <a:ext cx="29260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Prompt injection, hallucinated quantities, or ambiguous checkout language can alter a proposal.</a:t>
            </a:r>
            <a:endParaRPr sz="1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040DB80-38C2-404A-A2F5-E9E17F83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48840"/>
            <a:ext cx="3429000" cy="2148840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5404B76-EC39-44D4-9D97-45CFAF2A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3957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>
              <a:alpha val="20000"/>
            </a:srgbClr>
          </a:solidFill>
          <a:ln xmlns:a="http://schemas.openxmlformats.org/drawingml/2006/main" w="12700">
            <a:solidFill>
              <a:srgbClr val="FBBF24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55C5D0D-63AC-4CF3-AC17-8D0352C2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39572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BBF24"/>
                </a:solidFill>
                <a:latin typeface="Calibri"/>
                <a:ea typeface="Calibri"/>
                <a:cs typeface="Calibri"/>
              </a:rPr>
              <a:t>2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2F493DF-1592-4780-822E-FA327662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3774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State</a:t>
            </a:r>
            <a:endParaRPr sz="17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E579064-9D21-498A-A3A1-1EB8CB3E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971800"/>
            <a:ext cx="29260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cart and policy can change between preview and dispatch. A stale yes is unsafe.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CCA4C59-DE62-47A8-81D8-8EE501AF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148840"/>
            <a:ext cx="3429000" cy="2148840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331AA29-0C39-4A57-9FFD-5235A8CA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3957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95FF">
              <a:alpha val="20000"/>
            </a:srgbClr>
          </a:solidFill>
          <a:ln xmlns:a="http://schemas.openxmlformats.org/drawingml/2006/main" w="12700">
            <a:solidFill>
              <a:srgbClr val="3395F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09E0019-1042-44BE-84F3-856897C2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39572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3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E068327-E23A-4BFC-9FCE-A23C90F7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774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Effect</a:t>
            </a:r>
            <a:endParaRPr sz="17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9D14D11-A19A-47D6-BAED-94024998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971800"/>
            <a:ext cx="29260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Retries and timeouts can duplicate an external action even when the database reserved once.</a:t>
            </a:r>
            <a:endParaRPr sz="12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0899A79-700C-4512-971A-3CDEA528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17720"/>
            <a:ext cx="10911535" cy="123444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A2547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D07607B-1F49-477B-A894-95AE9969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00600"/>
            <a:ext cx="1008857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missing primitive is exact, one-use authorization at the action boundary.</a:t>
            </a:r>
            <a:endParaRPr sz="19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9F5D9E1-64FA-409E-9876-468D929F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285232"/>
            <a:ext cx="10088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Track 01 asks for explainable, bounded and gated money actions—with an audit trail and graceful failure.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7976869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66E4637-DF7C-4472-9DDA-1A075F4D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ARCHITECTURE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36CEB9B-CFC8-435F-8644-E6306740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Chat proposes. A separate boundary authorizes.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C23B6C1-BFA6-4A32-B8BC-258DD05A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One agent assembles a cart; explicit confirmation creates an exact action request; deterministic code owns every transition after that.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A96433-59C1-48E3-BE23-2D34FC40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E0A5E98-4401-4F5C-9ADE-2E5258E7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1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B0B2F60-214B-454C-A939-C22FAE20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retrieve + plan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B490EE1-BD4E-4FCD-BA0A-CBEFEAA2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RAG returns trusted SKUs;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model proposes quantity.</a:t>
            </a:r>
            <a:endParaRPr sz="11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0E85924-3DF2-4B6B-99EF-DFBD33F1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88036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→</a:t>
            </a:r>
            <a:endParaRPr sz="18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931ACA2-B5EF-4DC5-8257-617EF59F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6F865C0-940D-4EC1-8E07-D888BEBE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2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3FC461F-5000-491E-9500-34EBE723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explicit confirm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AA46A46-F657-4279-BBD1-15B852FE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Human approves cart hash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+ exact Razorpay action.</a:t>
            </a:r>
            <a:endParaRPr sz="11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C441801-3BDE-40E4-9866-0F71D3D0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9048" y="288036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→</a:t>
            </a:r>
            <a:endParaRPr sz="18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CD3DDFC-5250-4BBE-81A7-30A4E862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7293F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A97B4309-B9A2-4A47-AC37-A312F0EE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22C55E">
              <a:alpha val="7000"/>
            </a:srgbClr>
          </a:solidFill>
          <a:ln xmlns:a="http://schemas.openxmlformats.org/drawingml/2006/main" w="19050">
            <a:solidFill>
              <a:srgbClr val="22C55E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876474D-F2BC-4729-8187-44D0E2F6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3</a:t>
            </a:r>
            <a:endParaRPr sz="12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E6169BE-AFF1-4F54-AA64-E615C510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authorize + reserve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7B5A16D-A13C-4328-BC24-6A9CAB3F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Re-read full policy;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reserve headroom atomically.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CFD4C1E-DCFB-4FB1-B221-77717C99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976" y="288036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→</a:t>
            </a:r>
            <a:endParaRPr sz="18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3CB2A73-BA9D-4011-B293-1D71DA26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BF5F75E-B7DA-4F02-860E-F5DBA055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7464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4</a:t>
            </a:r>
            <a:endParaRPr sz="1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473701B-5938-4A60-9E61-D55031E6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7464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claim + dispatch</a:t>
            </a:r>
            <a:endParaRPr sz="13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CAC54CA-7547-43F6-8B91-CDEDD508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7464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One owner calls the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registered actuator once.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7E006C23-478B-4442-ACFA-23D0E780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5486400" cy="155448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8A03C83-5EB7-470A-B76E-E97792D7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2628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LLM never holds authority.</a:t>
            </a:r>
            <a:endParaRPr sz="15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7F1742C-D7A7-4FFB-89AE-2CF9B256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92040"/>
            <a:ext cx="48463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It interprets open-ended shopping intent and proposes catalog operations. Server-owned SKUs and integer-paise prices determine the canonical cart; ordinary chat cannot call a state-changing tool.</a:t>
            </a:r>
            <a:endParaRPr sz="11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6900D829-DD55-4460-9FDA-FDC037FA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43400"/>
            <a:ext cx="5105095" cy="155448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35E78A0-3A77-495C-96A8-9BD46EAD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52628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actuator trusts only database state.</a:t>
            </a:r>
            <a:endParaRPr sz="15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DEA6D2B-705A-4322-8039-012D7AA5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892040"/>
            <a:ext cx="4526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 closed action registry, current policy version and hash, exact arguments, cart hash, actor context, and a one-owner compare-and-set all have to match before the network call.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9795062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29BDF34-DDB0-4741-8C27-BF8259E2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THE DIFFERENTIATOR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176685D-CE15-413E-8D5B-D8083528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An exact grant, not a Boolean decision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CD034F0-9D6A-4728-9BB2-2DBE8AD9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Each authorization binds who, what, how much, which policy revision, and one purchase attempt. Any mismatch fails closed.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78F2724-5FDC-4197-8213-94383B8A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03120"/>
            <a:ext cx="6492240" cy="329184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BC818CA-33D5-469C-945E-7460EA93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86000"/>
            <a:ext cx="5852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Bindings enforced at dispatch</a:t>
            </a:r>
            <a:endParaRPr sz="14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2FF7753-1FC6-4E5C-9CCE-7FA51EF8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43784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370DE5B-90C8-477F-B17F-66D1D588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743200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Identity + session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5944FFF-3058-4FD8-ACEB-7AB012D3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743200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user · agent · session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7B31E12-0ADE-432A-813B-F9C9B1FA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743200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session-bound MVP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C3F2B2A-5A58-4A32-9C7D-44D8BEAA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64992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8AF4D7-DB52-4C48-B075-EEFF72B9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264408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Cart + amount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FC45C53-97D2-438F-A35F-E491584A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264408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cart_hash · args_hash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06E1078-84C1-4D17-9C4E-B4669E4C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264408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integer paise</a:t>
            </a:r>
            <a:endParaRPr sz="11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384743E-E2C9-4927-90D6-8340438B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CF1A66E-23F5-4D9B-8521-C01D78BE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785616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Policy snapshot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BA03075-8F3F-4F42-B69A-1F5074E8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785616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version · policy_hash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A4D2AA8-8838-44D2-9FB6-514C5FD7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785616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re-read at claim</a:t>
            </a:r>
            <a:endParaRPr sz="11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5D5BC2F-AB6A-4CD1-9BA4-D422CB4F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407408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2FA323F-45F1-405E-9820-0AA7A824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306824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Single dispatch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5A72DD1-565A-4DF4-84E1-0C8FE9F6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306824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purchase_attempt_id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8CBC743-7805-4CDB-8221-DB9AD953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306824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CAS owner token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86AE4525-D092-4C93-B1C8-61350899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28616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3FCF6FA-EE11-44EC-9C1B-1175F94B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828032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Ambiguity-safe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8C1A228-8F92-4D8F-8F57-44260209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828032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UNKNOWN</a:t>
            </a:r>
            <a:endParaRPr sz="10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CAF1B09-9391-417A-9D1F-2CD9CC4A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828032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no auto-retry</a:t>
            </a:r>
            <a:endParaRPr sz="11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17A1F84-72A7-4F5A-A7D5-A9C00A39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103120"/>
            <a:ext cx="4099255" cy="329184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F1830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C8EB31E-10D0-4497-8AF3-44977514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28600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claim(grant)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9CB237D-CB54-4F02-86BF-D173537A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51760"/>
            <a:ext cx="393192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require exact bindings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require current policy hash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CAS AUTHORIZED → DISPATCHING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if timeout after send: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state = UNKNOWN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keep headroom reserved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# 8 concurrent claims → 1 call</a:t>
            </a:r>
            <a:endParaRPr sz="10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A2CF17F-4330-4F2E-94BF-ED3AB490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526280"/>
            <a:ext cx="3931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 prompt can be copied. This invariant has to survive races, retries, revocation, and a lost provider response.</a:t>
            </a:r>
            <a:endParaRPr sz="11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92A6D1E-D696-465E-8E38-FF248145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8950E58-AEA8-4B3F-A024-7CD5EA57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76529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BB73825-EF45-4DF4-B11E-38DEFA86A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5623560"/>
            <a:ext cx="1047902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A policy edit and a dispatch claim serialize at one SQLite write boundary: whichever commits first defines the result.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2739903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82EAB7E-6BF9-4B48-B186-493EAC31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RAZORPAY-NATIVE EXECUTION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186F8D-AF91-4B10-987E-EDE917E1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 registered action; every other tool is unavailable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D1117CB-F1EF-4E61-9051-A6710535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MVP exposes create_payment_link through a Razorpay MCP-compatible transport. There is no generic state-changing pass-through.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91A89E6-EE71-42BF-A48E-53B39E58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64922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0162C15-66FE-4BFE-A77F-EECE2326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568"/>
            <a:ext cx="3017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canonicalize_action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CD10350-4DA1-47EB-8127-37EFE828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9464"/>
            <a:ext cx="5852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Strict schema; exact amount, currency, reference, notes, and schema hash.</a:t>
            </a:r>
            <a:endParaRPr sz="11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9DE9B8F-4BAF-4AD3-9D94-942327EF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64922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7E0FF47-1376-4364-8189-CD897C26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264408"/>
            <a:ext cx="3017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claim_action_grant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286FA00-E816-48C6-9586-0490C59A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75304"/>
            <a:ext cx="5852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Current policy + exact bindings + one-owner compare-and-set before network I/O.</a:t>
            </a:r>
            <a:endParaRPr sz="11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F188E92-5819-441F-8198-17D306AC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64922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C3742A0-BBCA-4B6F-AEBA-B144FDE8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270248"/>
            <a:ext cx="3017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create_payment_link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21AC8DD-5DED-4C53-84CB-3ED360F2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81144"/>
            <a:ext cx="5852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result is ACTION_ISSUED. Payment is not reported as settled.</a:t>
            </a:r>
            <a:endParaRPr sz="11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F4B7A58-2087-4C39-B408-72716A35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148840"/>
            <a:ext cx="4099255" cy="2788920"/>
          </a:xfrm>
          <a:prstGeom xmlns:a="http://schemas.openxmlformats.org/drawingml/2006/main" prst="roundRect">
            <a:avLst>
              <a:gd name="adj" fmla="val 3934"/>
            </a:avLst>
          </a:prstGeom>
          <a:solidFill xmlns:a="http://schemas.openxmlformats.org/drawingml/2006/main">
            <a:srgbClr val="0F1830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1D9C29F-ED5F-483E-BBC8-3380775C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31720"/>
            <a:ext cx="3931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 boundary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E2B4726-FD1D-46BE-B6CF-890404EC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97480"/>
            <a:ext cx="3657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AUTHORIZED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  → DISPATCHING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    → ACTION_ISSUED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    → UNKNOWN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/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Payment confirmation is separate.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DDE5275-A6C9-4942-B755-C56F7F7F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23360"/>
            <a:ext cx="36118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Razorpay documents a newly created Payment Link as Issued. Settlement needs a later authoritative event.</a:t>
            </a:r>
            <a:endParaRPr sz="11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B8A6667-EAE0-49C5-96BA-1621CC85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10911535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A2547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5706AD5-678D-4619-AFFB-91794965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440680"/>
            <a:ext cx="10088575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Vulcan is context, not a dependency: Razorpay positions it for routing, fraud and checkout intelligence; this build controls authorization.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575508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C5C45D7-DBC7-44D1-8D66-6069D7E7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AUDIT + RECOVERY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70BC9CB-4F1D-4909-8234-E841121D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Every transition leaves evidence before the network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DCD853E-177D-4440-9D6A-9670D09E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Authorization and dispatch-start events commit with their state transition. A denial never reaches the actuator; ambiguity remains reserved.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4F966D7-754D-470D-8EDB-DCACB461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40280"/>
            <a:ext cx="566928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3395FF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E2A9715-756E-48A7-A1F0-4EBAEE22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40280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AUTHORIZATION_ATTEMPT</a:t>
            </a:r>
            <a:endParaRPr sz="11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38F8636-C24A-479F-9C13-E788D538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24028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full decision code</a:t>
            </a:r>
            <a:endParaRPr sz="11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C296F19-5135-4D66-8738-EAAE631B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088"/>
            <a:ext cx="539496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3395F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653DB73-1CDC-4549-B2EE-2D9156A1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90088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ACTION_AUTHORIZED</a:t>
            </a:r>
            <a:endParaRPr sz="11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446B94E-EDE8-45EA-91C0-320286A8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990088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policy + cart + args hashes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A0279AC-952D-4E1C-B688-CBFF2AC2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739896"/>
            <a:ext cx="512064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0D00B54-48D6-40C5-97BD-74D9B981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739896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ACTION_DISPATCH_STARTED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FE2B4F3-10AF-4BC0-B8B4-E2C979BE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739896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durable before send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24EBFF6-A3F3-47B4-B1F5-097FA11F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489704"/>
            <a:ext cx="484632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12700">
            <a:solidFill>
              <a:srgbClr val="26325A"/>
            </a:solidFill>
            <a:prstDash val="dash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AC9BFB6-3343-4BAC-8F71-52B1F519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4489704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26325A"/>
                </a:solidFill>
                <a:latin typeface="Courier New"/>
                <a:ea typeface="Courier New"/>
                <a:cs typeface="Courier New"/>
              </a:rPr>
              <a:t>ACTION_ISSUED | UNKNOWN</a:t>
            </a:r>
            <a:endParaRPr sz="11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CDAAF3A-D368-4707-8A7D-E53B8303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89704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result or reconcile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26A45D1-BC98-46A2-BF81-35A8AB3B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40280"/>
            <a:ext cx="4236415" cy="30175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66FD5D5-8731-465A-BB02-DDBC2B0A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423160"/>
            <a:ext cx="4206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Three truths stay separate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9EFAB56-7543-4EDB-A659-920A81FE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834640"/>
            <a:ext cx="379476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buSzPct val="100000"/>
              <a:buChar char="•"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event log</a:t>
            </a:r>
            <a:endParaRPr sz="1150"/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attempts, denials, transitions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outstanding exposure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authorized, dispatching, issued, unknown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confirmed payment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only after authoritative evidence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0DBCF84-AF19-40EB-AF46-C49F7A8D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7784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timeout after dispatch is not ‘nothing happened.’ It becomes UNKNOWN, blocks redispatch, and preserves headroom.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9556438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E3302DC-C01C-452A-84E2-47A133DA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LIVE DEMO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8E9BE7-578B-4673-84D5-6775AA81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failure proves the boundary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5AC3A25-D3FF-4400-BD01-AD091F99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Trigger one denial, recover to a smaller exact cart, issue one link, then revoke the policy.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0AF98C2-14D5-406F-A322-CFD748A7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349240" cy="32004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BBAF061-D4AD-45CE-9405-010D32F1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3172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43F5E"/>
                </a:solidFill>
                <a:latin typeface="Calibri"/>
                <a:ea typeface="Calibri"/>
                <a:cs typeface="Calibri"/>
              </a:rPr>
              <a:t>The breach attempt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DBE8BA2-9A75-4787-AE73-14101ED3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97480"/>
            <a:ext cx="4617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“Add the Parmigiano Reggiano and the olive oil, then check out”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6FC26D9-6B72-4E7F-84ED-D82B6099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337560"/>
            <a:ext cx="461772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EADF56C-591C-450C-BCCD-6C5F973A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347929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83E941B-86A3-4539-B800-FA9E82CE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3337560"/>
            <a:ext cx="42153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BLOCK_WINDOW_CAP_EXCEEDED</a:t>
            </a:r>
            <a:endParaRPr sz="10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13F0272-EAA3-4A60-B8B3-BF58A635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840480"/>
            <a:ext cx="46177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1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cart   ₹2,034</a:t>
            </a:r>
            <a:endParaRPr sz="1150"/>
          </a:p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1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cap    ₹1,000</a:t>
            </a:r>
            <a:endParaRPr sz="1150"/>
          </a:p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1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action 0 adapter calls</a:t>
            </a:r>
            <a:endParaRPr sz="11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86B0DBF-FC30-4E06-B3FF-A216475E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800600"/>
            <a:ext cx="4617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Chat only proposes. The separate authorization request is denied before the adapter.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C9CF4B5-D9F9-48C6-9CF3-1BF1CFA8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148840"/>
            <a:ext cx="5349240" cy="32004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88F3B57-3E14-4AF4-9890-9CDB7805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33172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2C55E"/>
                </a:solidFill>
                <a:latin typeface="Calibri"/>
                <a:ea typeface="Calibri"/>
                <a:cs typeface="Calibri"/>
              </a:rPr>
              <a:t>The graceful recovery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73B7974-ED5D-4CA4-B804-BFA0D3C1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697480"/>
            <a:ext cx="46177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“Remove the premium items; authorize the exact ₹486 cart.”</a:t>
            </a:r>
            <a:endParaRPr sz="12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894B291-91D8-4775-9CBF-B8E18364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566160"/>
            <a:ext cx="461772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D0E8865-1C06-4246-B4E8-0B970566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424" y="370789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B24FF4C-0254-4248-8B8A-22FC1A4C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016" y="3566160"/>
            <a:ext cx="42153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ALLOW  →  ACTION_ISSUED</a:t>
            </a:r>
            <a:endParaRPr sz="10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894F7C3-F01F-4F43-B92A-DDFE7024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069080"/>
            <a:ext cx="46177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One Payment Link is issued—not settled. Then policy v2 is revoked; the next ₹549 coffee authorization is blocked.</a:t>
            </a:r>
            <a:endParaRPr sz="11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B94C98D-F031-4704-A190-B08FCDCC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77840"/>
            <a:ext cx="10911535" cy="73152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A2547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3BB5967-8244-45E9-9653-72FD2282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77840"/>
            <a:ext cx="10088575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Live failure fallback: python scripts/demo.py runs the same path with a temporary database, no keys, and no network.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12786853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BE6ECD4-105D-49E9-BEA4-5E36F0F7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REPRODUCIBLE PROOF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707E424-6712-4344-8F6F-A2CB8D4E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Three proofs, reproducible on this laptop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F25AB7D-C249-448C-B5AB-60A8F3C9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No invented GMV uplift. These are safety and execution properties backed by tests and the rehearsal.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60CBA4B-BDD9-4037-B77C-FD88725E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3429000" cy="2514600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F02AFB9-819A-4605-8B6C-9A5E304B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F43F5E"/>
                </a:solidFill>
                <a:latin typeface="Cambria"/>
                <a:ea typeface="Cambria"/>
                <a:cs typeface="Cambria"/>
              </a:rPr>
              <a:t>51</a:t>
            </a:r>
            <a:endParaRPr sz="4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EA9A31D-6FF5-4DCC-B1DD-D74B6551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2880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Backend tests</a:t>
            </a:r>
            <a:endParaRPr sz="1350"/>
          </a:p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passing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AEE71BA-E3A4-4377-AA89-B037A092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0480"/>
            <a:ext cx="2880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policy boundaries, exact grants, concurrency, unknown outcomes, and demo smoke</a:t>
            </a:r>
            <a:endParaRPr sz="11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CA3AE74-1C99-4163-8D00-6F724FF7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48840"/>
            <a:ext cx="3429000" cy="2514600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6E25DC2-32C4-4083-A375-755E2085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33172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3395FF"/>
                </a:solidFill>
                <a:latin typeface="Cambria"/>
                <a:ea typeface="Cambria"/>
                <a:cs typeface="Cambria"/>
              </a:rPr>
              <a:t>8 → 1</a:t>
            </a:r>
            <a:endParaRPr sz="4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87E5C01-960C-40E7-8032-E66169E9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246120"/>
            <a:ext cx="2880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Concurrent claims</a:t>
            </a:r>
            <a:endParaRPr sz="1350"/>
          </a:p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 actuator calls</a:t>
            </a:r>
            <a:endParaRPr sz="13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B6C35F-A53D-4C9D-BBCA-9E93DE55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840480"/>
            <a:ext cx="2880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eight simultaneous claims; exactly one simulated external action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84F09EC6-682F-48BF-92A4-7B2C7A0E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148840"/>
            <a:ext cx="3429000" cy="2514600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DF68B9D-96DD-41DA-B682-0E97730B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22C55E"/>
                </a:solidFill>
                <a:latin typeface="Cambria"/>
                <a:ea typeface="Cambria"/>
                <a:cs typeface="Cambria"/>
              </a:rPr>
              <a:t>0</a:t>
            </a:r>
            <a:endParaRPr sz="4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E73756C-5F63-4947-AE49-631D1D9F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46120"/>
            <a:ext cx="2880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Unauthorized</a:t>
            </a:r>
            <a:endParaRPr sz="1350"/>
          </a:p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actuator calls</a:t>
            </a:r>
            <a:endParaRPr sz="13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C68C753-844B-4CB9-9E95-1E29B8D6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840480"/>
            <a:ext cx="2880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blocked and revoked authorizations never reach the adapter in the rehearsal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856CD13-6146-447D-B415-C338A9AD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37760"/>
            <a:ext cx="10911535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BE42133-9443-4079-BB87-1431E2D0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120640"/>
            <a:ext cx="1008857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Also shipped: frontend production build  ·  npm audit: 0 vulnerabilities  ·  integer paise  ·  deterministic fallback  ·  outcome-aware metrics</a:t>
            </a:r>
            <a:endParaRPr sz="12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ED7C94-A0F1-4CE8-94BB-43292C89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623560"/>
            <a:ext cx="10088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Business impact is framed as bounded authorized exposure—not settled revenue—until payment confirmation exists.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9051672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DC465BC-5E3E-40F7-825F-D2A622A1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OBJECTIONS + LIMITS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6F815B8-AB97-436D-B984-E5FE7F4F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this proves—and what it does not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EDBB194-F21F-4D96-A5C0-CC87BA2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7D22A2F-7D6D-437D-9CAE-62CFA948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3055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“Is this a rules engine with AI decoration?”</a:t>
            </a:r>
            <a:endParaRPr sz="13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148346F-9056-4413-8D6A-363F484D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2432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AI handles open-ended retrieval and cart operations. The payment boundary is deliberately deterministic because model creativity is not authority.</a:t>
            </a:r>
            <a:endParaRPr sz="11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FC65A1D-DF64-4FB4-8386-D60D0721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96596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A03F295-C9BD-4A0F-AB60-591618ED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3055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“What if policy changes mid-checkout?”</a:t>
            </a:r>
            <a:endParaRPr sz="13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FAF45F5-E949-4CE0-9B25-129D0772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2432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Version and policy hash are revalidated at dispatch claim. A stale, unclaimed grant is cancelled before network I/O.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0CF2795-711C-42C4-A307-4AC28CA8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6C43616-30AB-45C5-B033-0EB9C49F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09651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“What if Razorpay times out after accepting?”</a:t>
            </a:r>
            <a:endParaRPr sz="13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E0698D7-C4AB-428F-B1ED-F00FEA1E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9028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attempt becomes UNKNOWN, keeps headroom, and cannot auto-repeat. Resolution requires authoritative reconciliation.</a:t>
            </a:r>
            <a:endParaRPr sz="11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48B3794-C2CD-4690-A71C-01945888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3192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9138501-8CE0-47C3-A642-0627308D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9651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“Is identity or Vulcan production-integrated?”</a:t>
            </a:r>
            <a:endParaRPr sz="13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006605C-7BBE-49FC-BD2B-82BB41F0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9028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No. Browser identity is an MVP stub and no private Vulcan API is assumed. Production needs an authenticated principal and provider events.</a:t>
            </a:r>
            <a:endParaRPr sz="11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E45ED78-B429-44E3-A61E-4FF2DAC0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911535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Retry Budget stays secondary: reopen only with confirmed compliance windows and measured batch lift against fixed-schedule and oracle baselines.</a:t>
            </a:r>
            <a:endParaRPr sz="1700"/>
          </a:p>
        </p:txBody>
      </p:sp>
    </p:spTree>
    <p:extLst>
      <p:ext uri="{BB962C8B-B14F-4D97-AF65-F5344CB8AC3E}">
        <p14:creationId xmlns:p14="http://schemas.microsoft.com/office/powerpoint/2010/main" val="2646747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EDCBD6-969C-4521-B947-36A45758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11680" y="3108960"/>
            <a:ext cx="6035040" cy="6035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95FF">
              <a:alpha val="10000"/>
            </a:srgbClr>
          </a:solidFill>
          <a:ln xmlns:a="http://schemas.openxmlformats.org/drawingml/2006/main" w="12700">
            <a:solidFill>
              <a:srgbClr val="0B1020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025BA5-18EC-461E-9CE6-4745AC04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5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TRACK 01  ·  WORKING SUBMISSION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C4EEE1F-278C-4CDB-BA67-34D026F7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77440"/>
            <a:ext cx="100584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Chat proposes. Policy authorizes.</a:t>
            </a:r>
            <a:endParaRPr sz="4000"/>
          </a:p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 grant dispatches one action.</a:t>
            </a:r>
            <a:endParaRPr sz="4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A282D69-90C4-41AD-8946-4DC8E452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9144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Action Firewall turns Razorpay agentic checkout into a bounded, reviewable control plane.</a:t>
            </a:r>
            <a:endParaRPr sz="15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B2EF2D9-2279-46BB-A0D8-8E87945E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17720"/>
            <a:ext cx="786384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0B5C67B-BCCF-450E-ADE8-02942DEE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75945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3A12704-4F5A-4B87-8FB2-0DF934F3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617720"/>
            <a:ext cx="74615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pytest -q → 51 passed   ·   npm audit → 0   ·   offline rehearsal → passed</a:t>
            </a:r>
            <a:endParaRPr sz="10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D6C48F3-0BAD-40FF-8055-FC67041A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035040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Ayush Choudhary  ·  Razorpay AI Buildathon 2026  ·  Track 01: AI Growth &amp; Agentic Commerce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500016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2026-09-02T11:20:57.6060000Z</dcterms:created>
  <dcterms:modified xsi:type="dcterms:W3CDTF">2026-09-02T11:20:57.6060000Z</dcterms:modified>
</coreProperties>
</file>