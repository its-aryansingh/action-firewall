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95FF"/>
                </a:solidFill>
                <a:latin typeface="Calibri"/>
              </a:defRPr>
            </a:pPr>
            <a:r>
              <a:t>RAZORPAY AI BUILDATHON 2026 · TRACK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Georgia"/>
              </a:defRPr>
            </a:pPr>
            <a:r>
              <a:t>Action Firewall — Safe Autopilot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CAED0"/>
                </a:solidFill>
                <a:latin typeface="Calibri"/>
              </a:defRPr>
            </a:pPr>
            <a:r>
              <a:t>One approval for the job. Zero authority beyond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120640" cy="109728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3D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3D66F"/>
                </a:solidFill>
                <a:latin typeface="Calibri"/>
              </a:defRPr>
            </a:pPr>
            <a:r>
              <a:t>AI DRAFTS &amp; RECOVERS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Zero autonomous payment authority. Translates intent and ranks eligible catalog items.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377440"/>
            <a:ext cx="5212080" cy="109728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33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Calibri"/>
              </a:defRPr>
            </a:pPr>
            <a:r>
              <a:t>PURCHASE ENVELOPE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One exact Action Grant · ₹417 / ₹600. Versioned, hash-bound spend fence.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16459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F7FF"/>
                </a:solidFill>
                <a:latin typeface="Georgia"/>
              </a:defRPr>
            </a:pPr>
            <a:r>
              <a:t>Agentic Commerce Control Plane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An AI may plan and recover a purchase. Only a deterministic, versioned Purchase Envelope can authorize the final Razorpay action.</a:t>
            </a:r>
            <a:br/>
            <a:br/>
            <a:r>
              <a:t>• Chat proposes; actuator calls registered create_payment_link once</a:t>
            </a:r>
            <a:br/>
            <a:r>
              <a:t>• Re-verified inside SQLite BEGIN IMMEDIATE before any network I/O</a:t>
            </a:r>
            <a:br/>
            <a:r>
              <a:t>• Dual HMAC-SHA256 Action Receipt survives grant settlement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CAED0"/>
                </a:solidFill>
                <a:latin typeface="Consolas"/>
              </a:defRPr>
            </a:pPr>
            <a:r>
              <a:t>Razorpay MCP-compatible actuator · deterministic policy · 265 tests · offline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217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9CAED0"/>
                </a:solidFill>
                <a:latin typeface="Calibri"/>
              </a:defRPr>
            </a:pPr>
            <a:r>
              <a:t>Aryan Singh · Track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95FF"/>
                </a:solidFill>
                <a:latin typeface="Calibri"/>
              </a:defRPr>
            </a:pPr>
            <a:r>
              <a:t>THE CONTROL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Georgia"/>
              </a:defRPr>
            </a:pPr>
            <a:r>
              <a:t>A model is not a payment principal.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CAED0"/>
                </a:solidFill>
                <a:latin typeface="Calibri"/>
              </a:defRPr>
            </a:pPr>
            <a:r>
              <a:t>Natural language expresses intent. It cannot carry durable authority across catalog substitutions, merchant changes, retries, and provider timeouts.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237744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FF3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3F68"/>
                </a:solidFill>
                <a:latin typeface="Georgia"/>
              </a:defRPr>
            </a:pPr>
            <a:r>
              <a:t>1 · Prompt &amp; Plan Drift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Stock loss or conversational ambiguity can nudge an agent toward unapproved items, categories, or price spikes without human realization.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94560"/>
            <a:ext cx="3383280" cy="237744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FFB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BD2E"/>
                </a:solidFill>
                <a:latin typeface="Georgia"/>
              </a:defRPr>
            </a:pPr>
            <a:r>
              <a:t>2 · Merchant &amp; State Drift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An item sells out and the agent re-routes to an unapproved seller. A general permission becomes an uninspected blank check.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383280" cy="237744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33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Georgia"/>
              </a:defRPr>
            </a:pPr>
            <a:r>
              <a:t>3 · Distributed Ambiguity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Network timeouts and retries duplicate external payment actions unless exposure is tracked atomically before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005840"/>
          </a:xfrm>
          <a:prstGeom prst="roundRect">
            <a:avLst/>
          </a:prstGeom>
          <a:solidFill>
            <a:srgbClr val="1C294B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F7FF"/>
                </a:solidFill>
                <a:latin typeface="Georgia"/>
              </a:defRPr>
            </a:pPr>
            <a:r>
              <a:t>The missing primitive: Purchase Envelope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Bounded human approval, exact machine verification. Track 01 requires explainable, bounded and gated money actions with full auditability.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CAED0"/>
                </a:solidFill>
                <a:latin typeface="Consolas"/>
              </a:defRPr>
            </a:pPr>
            <a:r>
              <a:t>First-party requirement · Razorpay AI Buildathon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217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9CAED0"/>
                </a:solidFill>
                <a:latin typeface="Calibri"/>
              </a:defRPr>
            </a:pPr>
            <a:r>
              <a:t>Aryan Singh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95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Georgia"/>
              </a:defRPr>
            </a:pPr>
            <a:r>
              <a:t>AI plans and recovers. Deterministic code gates money.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CAED0"/>
                </a:solidFill>
                <a:latin typeface="Calibri"/>
              </a:defRPr>
            </a:pPr>
            <a:r>
              <a:t>The model drafts intent; one shopper click activates it; server-side code verifies exact catalog facts before any provider call.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182880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Calibri"/>
              </a:defRPr>
            </a:pPr>
            <a:r>
              <a:t>1 · Draft Intent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AI or deterministic fallback drafts required slots and budget from shopping goal.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94560"/>
            <a:ext cx="2468880" cy="182880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Calibri"/>
              </a:defRPr>
            </a:pPr>
            <a:r>
              <a:t>2 · Activate Once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Shopper reviews budget, merchant, address. Click activates; AI cannot activate.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2468880" cy="182880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3D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3D66F"/>
                </a:solidFill>
                <a:latin typeface="Calibri"/>
              </a:defRPr>
            </a:pPr>
            <a:r>
              <a:t>3 · Verify &amp; Reserve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Code rehydrates catalog facts inside BEGIN IMMEDIATE transaction.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194560"/>
            <a:ext cx="2468880" cy="182880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Calibri"/>
              </a:defRPr>
            </a:pPr>
            <a:r>
              <a:t>4 · Claim &amp; Dispatch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One owner claims Action Grant and dispatches Razorpay create_payment_link.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212080" cy="155448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F7FF"/>
                </a:solidFill>
                <a:latin typeface="Georgia"/>
              </a:defRPr>
            </a:pPr>
            <a:r>
              <a:t>The LLM never holds authority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It translates intent and ranks substitutes. Server-owned SKUs and integer-paise prices determine the canonical cart 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97680"/>
            <a:ext cx="5212080" cy="155448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F7FF"/>
                </a:solidFill>
                <a:latin typeface="Georgia"/>
              </a:defRPr>
            </a:pPr>
            <a:r>
              <a:t>The actuator trusts verified state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Envelope hash, policy revision, merchant ID, slot tags, and one-owner compare-and-set must all match before network dispatch.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CAED0"/>
                </a:solidFill>
                <a:latin typeface="Consolas"/>
              </a:defRPr>
            </a:pPr>
            <a:r>
              <a:t>POST /envelopes/draft → draft intent · POST /autopilot/execute → deterministic authorization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217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9CAED0"/>
                </a:solidFill>
                <a:latin typeface="Calibri"/>
              </a:defRPr>
            </a:pPr>
            <a:r>
              <a:t>Aryan Singh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95FF"/>
                </a:solidFill>
                <a:latin typeface="Calibri"/>
              </a:defRPr>
            </a:pPr>
            <a:r>
              <a:t>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Georgia"/>
              </a:defRPr>
            </a:pPr>
            <a:r>
              <a:t>An exact grant, not a broad permissions token.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CAED0"/>
                </a:solidFill>
                <a:latin typeface="Calibri"/>
              </a:defRPr>
            </a:pPr>
            <a:r>
              <a:t>Each authorization binds who, what, which merchant, exact slot tags, and one purchase attempt. Any mismatch fails closed.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212080" cy="34747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Georgia"/>
              </a:defRPr>
            </a:pPr>
            <a:r>
              <a:t>Bindings Enforced at Dispatch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• Envelope identity: id · version · hash (immutable spend fence)</a:t>
            </a:r>
            <a:br/>
            <a:r>
              <a:t>• Cart + amount: cart_hash · quote_hash (integer paise only)</a:t>
            </a:r>
            <a:br/>
            <a:r>
              <a:t>• Context binding: user_id · merchant_id · fulfillment_profile</a:t>
            </a:r>
            <a:br/>
            <a:r>
              <a:t>• Single dispatch: purchase_attempt_id (CAS owner token)</a:t>
            </a:r>
            <a:br/>
            <a:r>
              <a:t>• Ambiguity-safe: UNKNOWN state holds headroom, blocks auto-retry</a:t>
            </a:r>
            <a:br/>
            <a:r>
              <a:t>• Cross-envelope ceiling: user aggregate exposure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212080" cy="34747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3D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3D66F"/>
                </a:solidFill>
                <a:latin typeface="Georgia"/>
              </a:defRPr>
            </a:pPr>
            <a:r>
              <a:t>In-Transaction Verification Gate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authorize_and_reserve(request):</a:t>
            </a:r>
            <a:br/>
            <a:br/>
            <a:r>
              <a:t>  BEGIN IMMEDIATE</a:t>
            </a:r>
            <a:br/>
            <a:r>
              <a:t>  re-read envelope row, version &amp; hash</a:t>
            </a:r>
            <a:br/>
            <a:r>
              <a:t>  check aggregate user authority ceiling</a:t>
            </a:r>
            <a:br/>
            <a:r>
              <a:t>  verify merchant, address, deadline, slots</a:t>
            </a:r>
            <a:br/>
            <a:r>
              <a:t>  if quote &gt; cap: return PolicyDelta</a:t>
            </a:r>
            <a:br/>
            <a:r>
              <a:t>  mint exact Action Grant (one use)</a:t>
            </a:r>
            <a:br/>
            <a:br/>
            <a:r>
              <a:t>  # 8 concurrent attempts → exactly 1 winner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CAED0"/>
                </a:solidFill>
                <a:latin typeface="Consolas"/>
              </a:defRPr>
            </a:pPr>
            <a:r>
              <a:t>Enforced atomically inside SQLite BEGIN IMMEDIATE before any network I/O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9CAED0"/>
                </a:solidFill>
                <a:latin typeface="Calibri"/>
              </a:defRPr>
            </a:pPr>
            <a:r>
              <a:t>Aryan Singh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95FF"/>
                </a:solidFill>
                <a:latin typeface="Calibri"/>
              </a:defRPr>
            </a:pPr>
            <a:r>
              <a:t>RAZORPAY-NATIVE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Georgia"/>
              </a:defRPr>
            </a:pPr>
            <a:r>
              <a:t>One registered action; dual HMAC-SHA256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CAED0"/>
                </a:solidFill>
                <a:latin typeface="Calibri"/>
              </a:defRPr>
            </a:pPr>
            <a:r>
              <a:t>Exposes create_payment_link through a Razorpay MCP-compatible transport. Receipts decouple authorization from lifecycle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212080" cy="34747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Georgia"/>
              </a:defRPr>
            </a:pPr>
            <a:r>
              <a:t>Strict Actuator Boundary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• canonicalize_action: Strict amount, currency, reference, notes, partial-payment flag, and schema hash.</a:t>
            </a:r>
            <a:br/>
            <a:br/>
            <a:r>
              <a:t>• claim_action_grant: Current policy, exact bindings, and one-owner compare-and-set before network I/O.</a:t>
            </a:r>
            <a:br/>
            <a:br/>
            <a:r>
              <a:t>• create_payment_link: The result is ACTION_ISSUED. Payment link is created; settlement requires provider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212080" cy="34747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3D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3D66F"/>
                </a:solidFill>
                <a:latin typeface="Georgia"/>
              </a:defRPr>
            </a:pPr>
            <a:r>
              <a:t>Dual-Signature Action Receipt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ReceiptAuthorization (immutable core):</a:t>
            </a:r>
            <a:br/>
            <a:r>
              <a:t>  → grant_id, cart_hash, quote_hash, policy_hash</a:t>
            </a:r>
            <a:br/>
            <a:r>
              <a:t>  → signed by authorization_signature</a:t>
            </a:r>
            <a:br/>
            <a:br/>
            <a:r>
              <a:t>ReceiptStatus (mutable lifecycle):</a:t>
            </a:r>
            <a:br/>
            <a:r>
              <a:t>  → state (action_issued / settled / unknown)</a:t>
            </a:r>
            <a:br/>
            <a:r>
              <a:t>  → signed by status_signature</a:t>
            </a:r>
            <a:br/>
            <a:br/>
            <a:r>
              <a:t>Auth core survives settlement verification cleanly.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CAED0"/>
                </a:solidFill>
                <a:latin typeface="Consolas"/>
              </a:defRPr>
            </a:pPr>
            <a:r>
              <a:t>Vulcan is context, not a dependency: Razorpay positions it for checkout intelligence; Action Firewall gates authorization.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9CAED0"/>
                </a:solidFill>
                <a:latin typeface="Calibri"/>
              </a:defRPr>
            </a:pPr>
            <a:r>
              <a:t>Aryan Singh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95FF"/>
                </a:solidFill>
                <a:latin typeface="Calibri"/>
              </a:defRPr>
            </a:pPr>
            <a:r>
              <a:t>CROSS-ENVELOPE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Georgia"/>
              </a:defRPr>
            </a:pPr>
            <a:r>
              <a:t>A user authority ceiling spans multiple jobs.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CAED0"/>
                </a:solidFill>
                <a:latin typeface="Calibri"/>
              </a:defRPr>
            </a:pPr>
            <a:r>
              <a:t>While individual Purchase Envelopes bound single purchases, an aggregate user ceiling prevents multi-agent spend accumulation.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25603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Calibri"/>
              </a:defRPr>
            </a:pPr>
            <a:r>
              <a:t>Authority Ceiling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Aggregate ceiling table (₹2,000 / weekly) bounds total outstanding exposure across all active envelopes.</a:t>
            </a:r>
            <a:br/>
            <a:br/>
            <a:r>
              <a:t>Inspectable via GET /authority?user_id=.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94560"/>
            <a:ext cx="3383280" cy="25603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3D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3D66F"/>
                </a:solidFill>
                <a:latin typeface="Calibri"/>
              </a:defRPr>
            </a:pPr>
            <a:r>
              <a:t>Atomic Concurrency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N parallel threads colliding across separate envelopes are gated under BEGIN IMMEDIATE; exactly k succeed, remainder blocked with BLOCK_USER_CEILING_EXCEEDED.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383280" cy="25603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BD2E"/>
                </a:solidFill>
                <a:latin typeface="Calibri"/>
              </a:defRPr>
            </a:pPr>
            <a:r>
              <a:t>Headroom Accounting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Committed and pending exposure count against ceiling immediately. Unresolved exposure is held safely until authoritative settlement or reconciliation.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822960"/>
          </a:xfrm>
          <a:prstGeom prst="roundRect">
            <a:avLst/>
          </a:prstGeom>
          <a:solidFill>
            <a:srgbClr val="1C294B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F7FF"/>
                </a:solidFill>
                <a:latin typeface="Calibri"/>
              </a:defRPr>
            </a:pPr>
            <a:r>
              <a:t>Concurrency Proof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8 concurrent threads under one envelope produce exactly 1 issued action; parallel envelopes collide at user ceiling with zero overspend.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CAED0"/>
                </a:solidFill>
                <a:latin typeface="Consolas"/>
              </a:defRPr>
            </a:pPr>
            <a:r>
              <a:t>GET /authority?user_id= → real-time aggregated headroom and active envelope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217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9CAED0"/>
                </a:solidFill>
                <a:latin typeface="Calibri"/>
              </a:defRPr>
            </a:pPr>
            <a:r>
              <a:t>Aryan Singh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95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Georgia"/>
              </a:defRPr>
            </a:pPr>
            <a:r>
              <a:t>Three beats: useful autonomy, hard refusal, ambiguity.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CAED0"/>
                </a:solidFill>
                <a:latin typeface="Calibri"/>
              </a:defRPr>
            </a:pPr>
            <a:r>
              <a:t>The demo is designed around one useful recovery, one field-specific refusal, and one distributed 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25603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3D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3D66F"/>
                </a:solidFill>
                <a:latin typeface="Calibri"/>
              </a:defRPr>
            </a:pPr>
            <a:r>
              <a:t>1 · Useful Autonomy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Stock loss → safe substitute</a:t>
            </a:r>
            <a:br/>
            <a:br/>
            <a:r>
              <a:t>Preferred pasta sells out. System re-plans an eligible substitute and issues one simulated link without asking the shopper again.</a:t>
            </a:r>
            <a:br/>
            <a:br/>
            <a:r>
              <a:t>[ALLOW_ENVELOPE → ACTION_ISSUED]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94560"/>
            <a:ext cx="3383280" cy="25603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FF3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3F68"/>
                </a:solidFill>
                <a:latin typeface="Calibri"/>
              </a:defRPr>
            </a:pPr>
            <a:r>
              <a:t>2 · Hard Refusal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Merchant changed → refuse</a:t>
            </a:r>
            <a:br/>
            <a:br/>
            <a:r>
              <a:t>Quote moves to unapproved merchant. Refused with field-level PolicyDelta (merchant_id). Zero actuator calls.</a:t>
            </a:r>
            <a:br/>
            <a:br/>
            <a:r>
              <a:t>[BLOCK_ENVELOPE_MISMATCH]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383280" cy="25603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FFB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BD2E"/>
                </a:solidFill>
                <a:latin typeface="Calibri"/>
              </a:defRPr>
            </a:pPr>
            <a:r>
              <a:t>3 · Safe Ambiguity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Provider timeout → hold</a:t>
            </a:r>
            <a:br/>
            <a:br/>
            <a:r>
              <a:t>Provider times out after dispatch. State held as UNKNOWN; envelope use remains occupied; duplicate retry suppressed.</a:t>
            </a:r>
            <a:br/>
            <a:br/>
            <a:r>
              <a:t>[UNKNOWN OUTCOME]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822960"/>
          </a:xfrm>
          <a:prstGeom prst="roundRect">
            <a:avLst/>
          </a:prstGeom>
          <a:solidFill>
            <a:srgbClr val="1C294B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F7FF"/>
                </a:solidFill>
                <a:latin typeface="Georgia"/>
              </a:defRPr>
            </a:pPr>
            <a:r>
              <a:t>Fault Injection (Demo Only)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Scenarios are injected by the operator to exercise deterministic boundaries on camera; endpoint refuses them outside DEMO_MODE.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CAED0"/>
                </a:solidFill>
                <a:latin typeface="Consolas"/>
              </a:defRPr>
            </a:pPr>
            <a:r>
              <a:t>Terminal rehearsal: python scripts/demo_autopilot.py runs all beats offline with simulated 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217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9CAED0"/>
                </a:solidFill>
                <a:latin typeface="Calibri"/>
              </a:defRPr>
            </a:pPr>
            <a:r>
              <a:t>Aryan Singh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95FF"/>
                </a:solidFill>
                <a:latin typeface="Calibri"/>
              </a:defRPr>
            </a:pPr>
            <a:r>
              <a:t>REPRODUCIBLE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Georgia"/>
              </a:defRPr>
            </a:pPr>
            <a:r>
              <a:t>Deterministic properties, verified on this machine.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CAED0"/>
                </a:solidFill>
                <a:latin typeface="Calibri"/>
              </a:defRPr>
            </a:pPr>
            <a:r>
              <a:t>Synthetic authorization-correctness evidence, not inflated conversion claims.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237744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3D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3D66F"/>
                </a:solidFill>
                <a:latin typeface="Calibri"/>
              </a:defRPr>
            </a:pPr>
            <a:r>
              <a:t>147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Backend tests passing</a:t>
            </a:r>
            <a:br/>
            <a:br/>
            <a:r>
              <a:t>Exact suite: policy limits, envelopes, receipts, voice boundaries, HTTP contracts, and concurrency.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94560"/>
            <a:ext cx="2468880" cy="237744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33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Calibri"/>
              </a:defRPr>
            </a:pPr>
            <a:r>
              <a:t>650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Generated boundary cases</a:t>
            </a:r>
            <a:br/>
            <a:br/>
            <a:r>
              <a:t>10 goal families, 104 distinct carts across 13 adversarial drift families (100% pass).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2468880" cy="237744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FF3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3F68"/>
                </a:solidFill>
                <a:latin typeface="Calibri"/>
              </a:defRPr>
            </a:pPr>
            <a:r>
              <a:t>550 / 550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Violations blocked</a:t>
            </a:r>
            <a:br/>
            <a:br/>
            <a:r>
              <a:t>Price, merchant, category, destination, and tampering breaches fail closed.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194560"/>
            <a:ext cx="2468880" cy="237744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3D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3D66F"/>
                </a:solidFill>
                <a:latin typeface="Calibri"/>
              </a:defRPr>
            </a:pPr>
            <a:r>
              <a:t>8 → 1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Concurrent claims to calls</a:t>
            </a:r>
            <a:br/>
            <a:br/>
            <a:r>
              <a:t>Eight parallel attempts under one envelope; exactly one issued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005840"/>
          </a:xfrm>
          <a:prstGeom prst="roundRect">
            <a:avLst/>
          </a:prstGeom>
          <a:solidFill>
            <a:srgbClr val="1C294B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5F7FF"/>
                </a:solidFill>
                <a:latin typeface="Georgia"/>
              </a:defRPr>
            </a:pPr>
            <a:r>
              <a:t>Empirical Verification Scope Caveat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Caveat: Synthetic deterministic authorization correctness. Not a claim of production conversion, GMV, fraud reduction, or payment success. Frontend clean; npm audit: 0; integer paise throughout.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CAED0"/>
                </a:solidFill>
                <a:latin typeface="Consolas"/>
              </a:defRPr>
            </a:pPr>
            <a:r>
              <a:t>Reproduce in seconds: python -m pytest -q &amp;&amp; python scripts/evaluate_autopilot.py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217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9CAED0"/>
                </a:solidFill>
                <a:latin typeface="Calibri"/>
              </a:defRPr>
            </a:pPr>
            <a:r>
              <a:t>Aryan Singh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95FF"/>
                </a:solidFill>
                <a:latin typeface="Calibri"/>
              </a:defRPr>
            </a:pPr>
            <a:r>
              <a:t>OBJECTIONS +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Georgia"/>
              </a:defRPr>
            </a:pPr>
            <a:r>
              <a:t>What this proves — and what remains production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CAED0"/>
                </a:solidFill>
                <a:latin typeface="Calibri"/>
              </a:defRPr>
            </a:pPr>
            <a:r>
              <a:t>Clear architectural boundaries and honest limitations.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212080" cy="16459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Georgia"/>
              </a:defRPr>
            </a:pPr>
            <a:r>
              <a:t>“Rules engine with AI decoration?”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AI translates open-ended goals and ranks substitutes. The payment boundary is deterministic because model creativity is not authorization.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212080" cy="16459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Georgia"/>
              </a:defRPr>
            </a:pPr>
            <a:r>
              <a:t>“Policy or envelope changes mid-checkout?”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Version and hashes are revalidated at claim. A revoked envelope or stale grant is cancelled before network I/O.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16459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Georgia"/>
              </a:defRPr>
            </a:pPr>
            <a:r>
              <a:t>“Razorpay times out after accepting?”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State becomes UNKNOWN, retains exposure, and rejects auto-retry. Reconciler applies authoritative provider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164592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Georgia"/>
              </a:defRPr>
            </a:pPr>
            <a:r>
              <a:t>“Production hardening path?”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Single-instance SQLite serialization is an honest proof. Production requires authenticated principals, tenant scoping, durable outbox, and signed webhooks.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CAED0"/>
                </a:solidFill>
                <a:latin typeface="Consolas"/>
              </a:defRPr>
            </a:pPr>
            <a:r>
              <a:t>Honest limitations: application-signed evidence only; synthetic merchant environment; pull-based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217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9CAED0"/>
                </a:solidFill>
                <a:latin typeface="Calibri"/>
              </a:defRPr>
            </a:pPr>
            <a:r>
              <a:t>Aryan Singh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95FF"/>
                </a:solidFill>
                <a:latin typeface="Calibri"/>
              </a:defRPr>
            </a:pPr>
            <a:r>
              <a:t>TRACK 01 · WORKING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F"/>
                </a:solidFill>
                <a:latin typeface="Georgia"/>
              </a:defRPr>
            </a:pPr>
            <a:r>
              <a:t>One approval for the job. Zero authority beyond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CAED0"/>
                </a:solidFill>
                <a:latin typeface="Calibri"/>
              </a:defRPr>
            </a:pPr>
            <a:r>
              <a:t>Action Firewall turns Razorpay agentic checkout into a bounded, reviewable application control plane.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698480" cy="2011680"/>
          </a:xfrm>
          <a:prstGeom prst="roundRect">
            <a:avLst/>
          </a:prstGeom>
          <a:solidFill>
            <a:srgbClr val="151E3A"/>
          </a:solidFill>
          <a:ln w="12700">
            <a:solidFill>
              <a:srgbClr val="23D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3D66F"/>
                </a:solidFill>
                <a:latin typeface="Georgia"/>
              </a:defRPr>
            </a:pPr>
            <a:r>
              <a:t>Verified System Properties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• 265 passing backend tests covering pure spend policy, envelope drafts, voice boundaries, concurrency, and reconciliation</a:t>
            </a:r>
            <a:br/>
            <a:r>
              <a:t>• 650 synthetic evaluation cases across 10 goal families (104 distinct carts, 100% boundary pass rate)</a:t>
            </a:r>
            <a:br/>
            <a:r>
              <a:t>• Dual HMAC-SHA256 Action Receipts preserving authorization proof across grant settlement</a:t>
            </a:r>
            <a:br/>
            <a:r>
              <a:t>• Cross-envelope User Authority Ceiling enforced atomically under SQLite BEGIN IMMEDIATE</a:t>
            </a:r>
            <a:br/>
            <a:r>
              <a:t>• Zero unauthorized actuator calls across all hostile scenarios and offline rehearsals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822960"/>
          </a:xfrm>
          <a:prstGeom prst="roundRect">
            <a:avLst/>
          </a:prstGeom>
          <a:solidFill>
            <a:srgbClr val="1C294B"/>
          </a:solidFill>
          <a:ln w="12700"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395FF"/>
                </a:solidFill>
                <a:latin typeface="Calibri"/>
              </a:defRPr>
            </a:pPr>
            <a:r>
              <a:t>Submission Status</a:t>
            </a:r>
          </a:p>
          <a:p>
            <a:pPr>
              <a:defRPr sz="1200">
                <a:solidFill>
                  <a:srgbClr val="9CAED0"/>
                </a:solidFill>
                <a:latin typeface="Calibri"/>
              </a:defRPr>
            </a:pPr>
            <a:r>
              <a:t>pytest → 265 passed · 650 eval cases · npm audit → 0 · offline rehearsals → 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CAED0"/>
                </a:solidFill>
                <a:latin typeface="Consolas"/>
              </a:defRPr>
            </a:pPr>
            <a:r>
              <a:t>Track 01: AI Growth &amp; Agentic 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9CAED0"/>
                </a:solidFill>
                <a:latin typeface="Calibri"/>
              </a:defRPr>
            </a:pPr>
            <a:r>
              <a:t>Aryan Singh · Razorpay AI Buildathon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